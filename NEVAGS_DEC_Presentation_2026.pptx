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89520" cy="54864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E8690A"/>
                </a:solidFill>
                <a:latin typeface="Calibri"/>
              </a:rPr>
              <a:t>DISTRICT EXECUTIVE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Mulanje District, Malawi  ·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7040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0" b="1" i="0">
                <a:solidFill>
                  <a:srgbClr val="1B4332"/>
                </a:solidFill>
                <a:latin typeface="Calibri"/>
              </a:rPr>
              <a:t>NEVAGS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C2B28"/>
                </a:solidFill>
                <a:latin typeface="Calibri"/>
              </a:rPr>
              <a:t>ECO BRICK &amp;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44368"/>
            <a:ext cx="6858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4B5563"/>
                </a:solidFill>
                <a:latin typeface="Calibri"/>
              </a:rPr>
              <a:t>"Building Tomorrow Sustainably"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64992"/>
            <a:ext cx="4114800" cy="228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93008"/>
            <a:ext cx="17190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K450M+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13632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1C2B28"/>
                </a:solidFill>
                <a:latin typeface="Calibri"/>
              </a:rPr>
              <a:t>Capital Invested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alibri"/>
              </a:rPr>
              <a:t>Founder + Atmosfair EUR 175K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3493008"/>
            <a:ext cx="17190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3913632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1C2B28"/>
                </a:solidFill>
                <a:latin typeface="Calibri"/>
              </a:rPr>
              <a:t>Current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411480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alibri"/>
              </a:rPr>
              <a:t>15 Female · 36 Male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3493008"/>
            <a:ext cx="17190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K2.07B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5" y="3913632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1C2B28"/>
                </a:solidFill>
                <a:latin typeface="Calibri"/>
              </a:rPr>
              <a:t>Revenue Potential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5" y="411480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alibri"/>
              </a:rPr>
              <a:t>Annual MWK at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9864" y="3493008"/>
            <a:ext cx="17190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B4332"/>
                </a:solidFill>
                <a:latin typeface="Calibri"/>
              </a:rPr>
              <a:t>8,000+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9864" y="3913632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1C2B28"/>
                </a:solidFill>
                <a:latin typeface="Calibri"/>
              </a:rPr>
              <a:t>Jobs in 3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9864" y="4114800"/>
            <a:ext cx="1719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Calibri"/>
              </a:rPr>
              <a:t>Direct + ecosystem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63440"/>
            <a:ext cx="6858000" cy="31089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00016"/>
            <a:ext cx="6675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One of the first black-owned industrial companies in Mulanje 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286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0B8A0"/>
                </a:solidFill>
                <a:latin typeface="Calibri"/>
              </a:rPr>
              <a:t>Reg. New Vision Anenenji Construction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57200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709880"/>
                </a:solidFill>
                <a:latin typeface="Calibri"/>
              </a:rPr>
              <a:t>Reg. No. 46289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914400"/>
            <a:ext cx="4114800" cy="22860"/>
          </a:xfrm>
          <a:prstGeom prst="rect">
            <a:avLst/>
          </a:prstGeom>
          <a:solidFill>
            <a:srgbClr val="4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10058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690A"/>
                </a:solidFill>
                <a:latin typeface="Calibri"/>
              </a:rPr>
              <a:t>COMMISSIONING
CEREMONY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60020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27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212848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DCC"/>
                </a:solidFill>
                <a:latin typeface="Calibri"/>
              </a:rPr>
              <a:t>Official Factory Opening
Musewu, Mulanje District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2834640"/>
            <a:ext cx="4114800" cy="22860"/>
          </a:xfrm>
          <a:prstGeom prst="rect">
            <a:avLst/>
          </a:prstGeom>
          <a:solidFill>
            <a:srgbClr val="40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2971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VSK 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2004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CCBB"/>
                </a:solidFill>
                <a:latin typeface="Calibri"/>
              </a:rPr>
              <a:t>Zero-firewood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63016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SDGs 3 5 13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8587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CCBB"/>
                </a:solidFill>
                <a:latin typeface="Calibri"/>
              </a:rPr>
              <a:t>UN sustainability goals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288536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GIZ · Atmosfair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51713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CCBB"/>
                </a:solidFill>
                <a:latin typeface="Calibri"/>
              </a:rPr>
              <a:t>International backed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946904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Musewu, Mulanje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17550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CCBB"/>
                </a:solidFill>
                <a:latin typeface="Calibri"/>
              </a:rPr>
              <a:t>Community-rooted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 i="0">
                <a:solidFill>
                  <a:srgbClr val="AABBAA"/>
                </a:solidFill>
                <a:latin typeface="Calibri"/>
              </a:rPr>
              <a:t>Charles Billy Nasala (MD)  ·  +265 888 34 75 75  ·  nasalacharles.b@gmail.com  ·  Chancy Tausi Tsonga (BD)  ·  +265 984 000 366  ·  chancy.tsonga@yahoo.com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PRESENTATION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PRESENTATION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What We Will Cover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37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755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Company Background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103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Why NEVAGS exists · the firewood ban · our opportunity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880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98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Leadership &amp;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246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Ownership, registration · VSK bricks · biomass briquettes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023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041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Investment &amp;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389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Capital base · returns · cost-per-m² comparison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74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166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84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Environment &amp; SDGs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532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Zero firewood · SDG alignment · zero-waste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45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1645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1737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755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Employment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103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51 staff → 8,000+ jobs · community moulding programme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788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2788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2880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898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Budget &amp; Partners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246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3-month operational budget · GIZ, Atmosfair &amp; others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3931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931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4023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041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389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27 May 2026 commissioning · phased growth to 2029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74920"/>
            <a:ext cx="5669280" cy="10789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5074920"/>
            <a:ext cx="34747" cy="10789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516636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D1D5DB"/>
                </a:solidFill>
                <a:latin typeface="Calibri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1846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Partnership Ask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553212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What NEVAGS needs from Mulanje District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COMPANY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COMPANY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Why NEVAGS Exists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5669280" cy="4983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4747" cy="49834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55648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THE PROBLEM — MALAWI'S HOUSING &amp; DEFORESTATION CRISIS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066544"/>
            <a:ext cx="534924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21408"/>
            <a:ext cx="5349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0">
                <a:solidFill>
                  <a:srgbClr val="4B5563"/>
                </a:solidFill>
                <a:latin typeface="Calibri"/>
              </a:rPr>
              <a:t>80–90% of Malawi's housing is built with fired clay bricks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4B5563"/>
                </a:solidFill>
                <a:latin typeface="Calibri"/>
              </a:rPr>
              <a:t>For decades, bricks were fired using massive quantities of firewood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4B5563"/>
                </a:solidFill>
                <a:latin typeface="Calibri"/>
              </a:rPr>
              <a:t>Malawi has one of the fastest deforestation rates in Africa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4B5563"/>
                </a:solidFill>
                <a:latin typeface="Calibri"/>
              </a:rPr>
              <a:t>Soil erosion, flooding and biodiversity loss have accelerated</a:t>
            </a:r>
          </a:p>
          <a:p>
            <a:pPr>
              <a:spcBef>
                <a:spcPts val="6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DC2626"/>
                </a:solidFill>
                <a:latin typeface="Calibri"/>
              </a:rPr>
              <a:t>MALAWI GOVERNMENT BANNED firewood-fired bricks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4B5563"/>
                </a:solidFill>
                <a:latin typeface="Calibri"/>
              </a:rPr>
              <a:t>Critical supply gap — developers, NGOs and govt need a legal alternative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4B5563"/>
                </a:solidFill>
                <a:latin typeface="Calibri"/>
              </a:rPr>
              <a:t>Demand is policy-driven, long-term and nationwide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45920"/>
            <a:ext cx="5669280" cy="49834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645920"/>
            <a:ext cx="34747" cy="498348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55648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THE SOLUTION — NEVAGS ECO BRICK &amp; CONSTRUCTION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9672" y="2066544"/>
            <a:ext cx="5349240" cy="16459"/>
          </a:xfrm>
          <a:prstGeom prst="rect">
            <a:avLst/>
          </a:prstGeom>
          <a:solidFill>
            <a:srgbClr val="4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2121408"/>
            <a:ext cx="5349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i="0">
                <a:solidFill>
                  <a:srgbClr val="FFFFFF"/>
                </a:solidFill>
                <a:latin typeface="Calibri"/>
              </a:rPr>
              <a:t>VSK (Vertical Shaft Kiln) technology fuelled by biomass briquettes</a:t>
            </a:r>
          </a:p>
          <a:p>
            <a:pPr>
              <a:spcBef>
                <a:spcPts val="500"/>
              </a:spcBef>
            </a:pPr>
            <a:r>
              <a:rPr sz="1000" i="0">
                <a:solidFill>
                  <a:srgbClr val="FFFFFF"/>
                </a:solidFill>
                <a:latin typeface="Calibri"/>
              </a:rPr>
              <a:t>Zero firewood — 100% policy compliant, every day</a:t>
            </a:r>
          </a:p>
          <a:p>
            <a:pPr>
              <a:spcBef>
                <a:spcPts val="500"/>
              </a:spcBef>
            </a:pPr>
            <a:r>
              <a:rPr sz="1000" i="0">
                <a:solidFill>
                  <a:srgbClr val="FFFFFF"/>
                </a:solidFill>
                <a:latin typeface="Calibri"/>
              </a:rPr>
              <a:t>High-quality bricks at affordable pricing</a:t>
            </a:r>
          </a:p>
          <a:p>
            <a:pPr>
              <a:spcBef>
                <a:spcPts val="500"/>
              </a:spcBef>
            </a:pPr>
            <a:r>
              <a:rPr sz="1000" i="0">
                <a:solidFill>
                  <a:srgbClr val="FFFFFF"/>
                </a:solidFill>
                <a:latin typeface="Calibri"/>
              </a:rPr>
              <a:t>Located in the heart of Mulanje District</a:t>
            </a:r>
          </a:p>
          <a:p>
            <a:pPr>
              <a:spcBef>
                <a:spcPts val="500"/>
              </a:spcBef>
            </a:pPr>
            <a:r>
              <a:rPr sz="1000" i="0">
                <a:solidFill>
                  <a:srgbClr val="FFFFFF"/>
                </a:solidFill>
                <a:latin typeface="Calibri"/>
              </a:rPr>
              <a:t>Already employing 51 community members</a:t>
            </a:r>
          </a:p>
          <a:p>
            <a:pPr>
              <a:spcBef>
                <a:spcPts val="500"/>
              </a:spcBef>
            </a:pPr>
            <a:r>
              <a:rPr sz="1000" i="0">
                <a:solidFill>
                  <a:srgbClr val="FFFFFF"/>
                </a:solidFill>
                <a:latin typeface="Calibri"/>
              </a:rPr>
              <a:t>Backed by GIZ, Atmosfair &amp; academic research partners</a:t>
            </a:r>
          </a:p>
          <a:p>
            <a:pPr>
              <a:spcBef>
                <a:spcPts val="6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000" i="1">
                <a:solidFill>
                  <a:srgbClr val="F59E0B"/>
                </a:solidFill>
                <a:latin typeface="Calibri"/>
              </a:rPr>
              <a:t>"When we build, let us think that we build forever." — Ruskin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COMPANY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COMPANY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Leadership &amp; Registration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1274552" cy="34747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4747" cy="347472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700784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E8690A"/>
                </a:solidFill>
                <a:latin typeface="Calibri"/>
              </a:rPr>
              <a:t>One of the first black-owned industrial companies in Mulanje District — a pioneer enterprise building community ownership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3749039" cy="44348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103120"/>
            <a:ext cx="34747" cy="443484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231136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E8690A"/>
                </a:solidFill>
                <a:latin typeface="Calibri"/>
              </a:rPr>
              <a:t>FOUNDER, OWNER &amp; MANAGING DIRECTOR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578608"/>
            <a:ext cx="3429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Charles Billy Nasala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3090672"/>
            <a:ext cx="3291840" cy="13716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1546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CCDDCC"/>
                </a:solidFill>
                <a:latin typeface="Calibri"/>
              </a:rPr>
              <a:t>Entrepreneur, industrial innovator &amp; community champion.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CDDCC"/>
                </a:solidFill>
                <a:latin typeface="Calibri"/>
              </a:rPr>
              <a:t>Founder of one of Malawi's first VSK brick enterprises.</a:t>
            </a:r>
          </a:p>
          <a:p>
            <a:pPr>
              <a:spcBef>
                <a:spcPts val="400"/>
              </a:spcBef>
            </a:pPr>
            <a:r>
              <a:rPr sz="400">
                <a:solidFill>
                  <a:srgbClr val="1B4332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F59E0B"/>
                </a:solidFill>
                <a:latin typeface="Calibri"/>
              </a:rPr>
              <a:t>T:  +265 888 34 75 75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F59E0B"/>
                </a:solidFill>
                <a:latin typeface="Calibri"/>
              </a:rPr>
              <a:t>T:  +265 99 751 0160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F59E0B"/>
                </a:solidFill>
                <a:latin typeface="Calibri"/>
              </a:rPr>
              <a:t>E:  nasalacharles.b@gmail.com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2103120"/>
            <a:ext cx="3749039" cy="4434840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2103120"/>
            <a:ext cx="34747" cy="443484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231136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E8690A"/>
                </a:solidFill>
                <a:latin typeface="Calibri"/>
              </a:rPr>
              <a:t>FOUNDING ENGINEER &amp; BD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578608"/>
            <a:ext cx="3429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Chancy Tausi Tsonga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3090672"/>
            <a:ext cx="3291840" cy="13716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31546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CCDDCC"/>
                </a:solidFill>
                <a:latin typeface="Calibri"/>
              </a:rPr>
              <a:t>VSK technology specialist &amp; strategic partner.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CCDDCC"/>
                </a:solidFill>
                <a:latin typeface="Calibri"/>
              </a:rPr>
              <a:t>Leads business development and market expansion.</a:t>
            </a:r>
          </a:p>
          <a:p>
            <a:pPr>
              <a:spcBef>
                <a:spcPts val="400"/>
              </a:spcBef>
            </a:pPr>
            <a:r>
              <a:rPr sz="400">
                <a:solidFill>
                  <a:srgbClr val="1C2B28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F59E0B"/>
                </a:solidFill>
                <a:latin typeface="Calibri"/>
              </a:rPr>
              <a:t>T:  +265 984 000 366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F59E0B"/>
                </a:solidFill>
                <a:latin typeface="Calibri"/>
              </a:rPr>
              <a:t>WA: +27 764 998 4601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F59E0B"/>
                </a:solidFill>
                <a:latin typeface="Calibri"/>
              </a:rPr>
              <a:t>E:  chancy.tsonga@yahoo.com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F59E0B"/>
                </a:solidFill>
                <a:latin typeface="Calibri"/>
              </a:rPr>
              <a:t>W:  chancytsonga.com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84464" y="2103120"/>
            <a:ext cx="3749039" cy="4434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2103120"/>
            <a:ext cx="34747" cy="44348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2231136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E8690A"/>
                </a:solidFill>
                <a:latin typeface="Calibri"/>
              </a:rPr>
              <a:t>COMPANY REGISTRATION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578608"/>
            <a:ext cx="3429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C2B28"/>
                </a:solidFill>
                <a:latin typeface="Calibri"/>
              </a:rPr>
              <a:t>New Vision Anenenji Construction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49056" y="3090672"/>
            <a:ext cx="32918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6" y="31546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4B5563"/>
                </a:solidFill>
                <a:latin typeface="Calibri"/>
              </a:rPr>
              <a:t>Registration No. 46289</a:t>
            </a:r>
          </a:p>
          <a:p>
            <a:pPr>
              <a:spcBef>
                <a:spcPts val="400"/>
              </a:spcBef>
            </a:pPr>
            <a:r>
              <a:rPr sz="400">
                <a:solidFill>
                  <a:srgbClr val="F3F4F6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C2B28"/>
                </a:solidFill>
                <a:latin typeface="Calibri"/>
              </a:rPr>
              <a:t>Location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B5563"/>
                </a:solidFill>
                <a:latin typeface="Calibri"/>
              </a:rPr>
              <a:t>Musewu, Mulanje District, Southern Malawi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B5563"/>
                </a:solidFill>
                <a:latin typeface="Calibri"/>
              </a:rPr>
              <a:t>P.O. Box 90, Mulanje</a:t>
            </a:r>
          </a:p>
          <a:p>
            <a:pPr>
              <a:spcBef>
                <a:spcPts val="400"/>
              </a:spcBef>
            </a:pPr>
            <a:r>
              <a:rPr sz="400">
                <a:solidFill>
                  <a:srgbClr val="F3F4F6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C2B28"/>
                </a:solidFill>
                <a:latin typeface="Calibri"/>
              </a:rPr>
              <a:t>Careers / HR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B5563"/>
                </a:solidFill>
                <a:latin typeface="Calibri"/>
              </a:rPr>
              <a:t>careers.nevags@gmail.com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MISSION, VISION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MISSION, VISION &amp;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Our Strategic 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3749039" cy="4956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4747" cy="49560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83080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057400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We 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450592"/>
            <a:ext cx="3291840" cy="16459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60320"/>
            <a:ext cx="34290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EEDD"/>
                </a:solidFill>
                <a:latin typeface="Calibri"/>
              </a:rPr>
              <a:t>To produce high-quality, environmentally compliant bricks using VSK technology and biomass briquettes — providing affordable building materials that support Malawi's housing sector while protecting forests, creating jobs, and empowering communities in Mulanje District and beyond.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1645920"/>
            <a:ext cx="3749039" cy="4956048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645920"/>
            <a:ext cx="34747" cy="49560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1783080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057400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Where We Are Going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2450592"/>
            <a:ext cx="3291840" cy="16459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560320"/>
            <a:ext cx="34290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EEDD"/>
                </a:solidFill>
                <a:latin typeface="Calibri"/>
              </a:rPr>
              <a:t>To build a scalable ecosystem for sustainable, affordable, and climate-resilient housing across Malawi and Southern Africa — positioning NEVAGS as the benchmark for eco-industrial construction innovation on the African continent.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1645920"/>
            <a:ext cx="3749039" cy="4956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4464" y="1645920"/>
            <a:ext cx="34747" cy="49560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1783080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2057400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C2B28"/>
                </a:solidFill>
                <a:latin typeface="Calibri"/>
              </a:rPr>
              <a:t>Key Goals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49056" y="2450592"/>
            <a:ext cx="329184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2560320"/>
            <a:ext cx="3429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Produce 4.8M+ bricks/year — zero firewood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Scale to 200+ internal employees in 3 years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Create 8,000+ jobs in the district ecosystem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Achieve 30–45% annual ROI for investors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Commission biogas 2nd kiln shaft in 14 months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Expand to Blantyre, Lilongwe &amp; Mzuzu markets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Maintain ≥30% female employment — SDG 5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  Full ESG compliance — SDGs 3, 5, 13, 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64808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1">
                <a:solidFill>
                  <a:srgbClr val="F59E0B"/>
                </a:solidFill>
                <a:latin typeface="Calibri"/>
              </a:rPr>
              <a:t>"Civilisations are remembered by what they build. The responsibility of our generation is to build differently."  — Chancy Tausi Tsonga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PRODUCTS &amp;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PRODUCTS &amp;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What We 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3749039" cy="4956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4747" cy="49560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55648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8690A"/>
                </a:solidFill>
                <a:latin typeface="Calibri"/>
              </a:rPr>
              <a:t>CORE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993392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Ordinary VSK Bricks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414016"/>
            <a:ext cx="3291840" cy="16459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48716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Production Cost:  </a:t>
            </a:r>
            <a:r>
              <a:rPr sz="900">
                <a:solidFill>
                  <a:srgbClr val="FFFFFF"/>
                </a:solidFill>
                <a:latin typeface="Calibri"/>
              </a:rPr>
              <a:t>K195 / brick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74320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QS Selling Price:  </a:t>
            </a:r>
            <a:r>
              <a:rPr sz="900">
                <a:solidFill>
                  <a:srgbClr val="FFFFFF"/>
                </a:solidFill>
                <a:latin typeface="Calibri"/>
              </a:rPr>
              <a:t>K300 / brick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9992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Gross Margin:  </a:t>
            </a:r>
            <a:r>
              <a:rPr sz="900">
                <a:solidFill>
                  <a:srgbClr val="FFFFFF"/>
                </a:solidFill>
                <a:latin typeface="Calibri"/>
              </a:rPr>
              <a:t>35%  ·  K105 / brick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255264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Annual Capacity:  </a:t>
            </a:r>
            <a:r>
              <a:rPr sz="900">
                <a:solidFill>
                  <a:srgbClr val="FFFFFF"/>
                </a:solidFill>
                <a:latin typeface="Calibri"/>
              </a:rPr>
              <a:t>3,000,000 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511296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Annual Revenue:  </a:t>
            </a:r>
            <a:r>
              <a:rPr sz="900">
                <a:solidFill>
                  <a:srgbClr val="FFFFFF"/>
                </a:solidFill>
                <a:latin typeface="Calibri"/>
              </a:rPr>
              <a:t>K900,000,000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3767328"/>
            <a:ext cx="3291840" cy="13716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87705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100% firewood-free — policy compliant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13308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Passes all Malawi govt standards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38912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Suitable for all construction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64515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Competitive vs cement blocks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1645920"/>
            <a:ext cx="3749039" cy="4956048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1645920"/>
            <a:ext cx="34747" cy="49560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1755648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8690A"/>
                </a:solidFill>
                <a:latin typeface="Calibri"/>
              </a:rPr>
              <a:t>PREMIUM 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1993392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Face Bricks (Double-Faced)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5424" y="2414016"/>
            <a:ext cx="3291840" cy="16459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248716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Production Cost:  </a:t>
            </a:r>
            <a:r>
              <a:rPr sz="900">
                <a:solidFill>
                  <a:srgbClr val="FFFFFF"/>
                </a:solidFill>
                <a:latin typeface="Calibri"/>
              </a:rPr>
              <a:t>K335 / brick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274320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QS Selling Price:  </a:t>
            </a:r>
            <a:r>
              <a:rPr sz="900">
                <a:solidFill>
                  <a:srgbClr val="FFFFFF"/>
                </a:solidFill>
                <a:latin typeface="Calibri"/>
              </a:rPr>
              <a:t>K510–K650 / brick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29992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Gross Margin:  </a:t>
            </a:r>
            <a:r>
              <a:rPr sz="900">
                <a:solidFill>
                  <a:srgbClr val="FFFFFF"/>
                </a:solidFill>
                <a:latin typeface="Calibri"/>
              </a:rPr>
              <a:t>34%  ·  K175 / brick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3255264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Annual Capacity:  </a:t>
            </a:r>
            <a:r>
              <a:rPr sz="900">
                <a:solidFill>
                  <a:srgbClr val="FFFFFF"/>
                </a:solidFill>
                <a:latin typeface="Calibri"/>
              </a:rPr>
              <a:t>1,800,000 bricks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3511296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Annual Revenue:  </a:t>
            </a:r>
            <a:r>
              <a:rPr sz="900">
                <a:solidFill>
                  <a:srgbClr val="FFFFFF"/>
                </a:solidFill>
                <a:latin typeface="Calibri"/>
              </a:rPr>
              <a:t>K1,170,000,000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35424" y="3767328"/>
            <a:ext cx="3291840" cy="13716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5424" y="387705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Premium surface finish, no plastering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413308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Higher absolute margin per brick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5424" y="438912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Commercial &amp; high-end residential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5424" y="464515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CEECC"/>
                </a:solidFill>
                <a:latin typeface="Calibri"/>
              </a:rPr>
              <a:t>Supports early-phase revenue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4464" y="1645920"/>
            <a:ext cx="3749039" cy="4956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84464" y="1645920"/>
            <a:ext cx="34747" cy="4956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1755648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E8690A"/>
                </a:solidFill>
                <a:latin typeface="Calibri"/>
              </a:rPr>
              <a:t>ECO INNOVATION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1993392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C2B28"/>
                </a:solidFill>
                <a:latin typeface="Calibri"/>
              </a:rPr>
              <a:t>Biomass Briquettes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49056" y="2414016"/>
            <a:ext cx="3291840" cy="1645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6" y="248716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690A"/>
                </a:solidFill>
                <a:latin typeface="Calibri"/>
              </a:rPr>
              <a:t>Feedstock:  </a:t>
            </a:r>
            <a:r>
              <a:rPr sz="900">
                <a:solidFill>
                  <a:srgbClr val="4B5563"/>
                </a:solidFill>
                <a:latin typeface="Calibri"/>
              </a:rPr>
              <a:t>Rice husks &amp; agri waste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274320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690A"/>
                </a:solidFill>
                <a:latin typeface="Calibri"/>
              </a:rPr>
              <a:t>Use:  </a:t>
            </a:r>
            <a:r>
              <a:rPr sz="900">
                <a:solidFill>
                  <a:srgbClr val="4B5563"/>
                </a:solidFill>
                <a:latin typeface="Calibri"/>
              </a:rPr>
              <a:t>VSK kiln fuel (self-supply)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9056" y="29992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690A"/>
                </a:solidFill>
                <a:latin typeface="Calibri"/>
              </a:rPr>
              <a:t>Benefit:  </a:t>
            </a:r>
            <a:r>
              <a:rPr sz="900">
                <a:solidFill>
                  <a:srgbClr val="4B5563"/>
                </a:solidFill>
                <a:latin typeface="Calibri"/>
              </a:rPr>
              <a:t>Replaces all firewood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3255264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690A"/>
                </a:solidFill>
                <a:latin typeface="Calibri"/>
              </a:rPr>
              <a:t>Community role:  </a:t>
            </a:r>
            <a:r>
              <a:rPr sz="900">
                <a:solidFill>
                  <a:srgbClr val="4B5563"/>
                </a:solidFill>
                <a:latin typeface="Calibri"/>
              </a:rPr>
              <a:t>Farmers paid per kg supply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056" y="3511296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690A"/>
                </a:solidFill>
                <a:latin typeface="Calibri"/>
              </a:rPr>
              <a:t>Future:  </a:t>
            </a:r>
            <a:r>
              <a:rPr sz="900">
                <a:solidFill>
                  <a:srgbClr val="4B5563"/>
                </a:solidFill>
                <a:latin typeface="Calibri"/>
              </a:rPr>
              <a:t>Biogas 2nd shaft in 14 months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49056" y="3767328"/>
            <a:ext cx="32918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49056" y="387705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B5563"/>
                </a:solidFill>
                <a:latin typeface="Calibri"/>
              </a:rPr>
              <a:t>Zero firewood — circular economy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13308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B5563"/>
                </a:solidFill>
                <a:latin typeface="Calibri"/>
              </a:rPr>
              <a:t>Turns farm waste into clean energy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49056" y="438912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B5563"/>
                </a:solidFill>
                <a:latin typeface="Calibri"/>
              </a:rPr>
              <a:t>Community biomass supply chain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464515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B5563"/>
                </a:solidFill>
                <a:latin typeface="Calibri"/>
              </a:rPr>
              <a:t>Positions NEVAGS as biogas pioneer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10528"/>
            <a:ext cx="11274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Annual Revenue: K900M (Ordinary)  +  K1,170M (Face Bricks)  =  K2.07 BILLION  ·  Gross Profit: ~K774M (~USD 440,000)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INVESTMENT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INVESTMENT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Capital Base, Returns &amp; Financial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2788920" cy="12801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K175M+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Founder's Equity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Charles Billy Nasala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645920"/>
            <a:ext cx="2788920" cy="1280160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EUR 175K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Atmosfair Loan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2nd Amendment, Apr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45920"/>
            <a:ext cx="2788920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K450M+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Total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Founder + intl finance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645920"/>
            <a:ext cx="2788920" cy="128016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K2.07B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Revenue Potential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Annual MWK at capacity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035808"/>
            <a:ext cx="2788920" cy="1444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1089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30–45%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58444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C2B28"/>
                </a:solidFill>
                <a:latin typeface="Calibri"/>
              </a:rPr>
              <a:t>Annual ROI Potential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822192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Based on full capacity at QS pricing. Policy-driven demand = long-term revenue.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3035808"/>
            <a:ext cx="2788920" cy="1444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31089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3–5 yrs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358444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C2B28"/>
                </a:solidFill>
                <a:latin typeface="Calibri"/>
              </a:rPr>
              <a:t>Investment Payback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3822192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Conservative payback on total K450M+ investment. Expansion finance accelerates this.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35808"/>
            <a:ext cx="2788920" cy="1444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1089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$2.5M+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58444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C2B28"/>
                </a:solidFill>
                <a:latin typeface="Calibri"/>
              </a:rPr>
              <a:t>Revenue — Year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822192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With scaled operations, revenue exceeds $2.5M USD within 3 years.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035808"/>
            <a:ext cx="2788920" cy="14447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310896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K774M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3584448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1C2B28"/>
                </a:solidFill>
                <a:latin typeface="Calibri"/>
              </a:rPr>
              <a:t>Annual Gross Profit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3822192"/>
            <a:ext cx="2468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~$440,000 USD annual gross profit at full production capacity.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5902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Annual Revenue &amp; Profit Breakdown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57200" y="4892040"/>
          <a:ext cx="11274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1783080"/>
                <a:gridCol w="2011680"/>
                <a:gridCol w="290779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Capacity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Prod. Cost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QS Price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Annual Revenue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Ordinary VSK Bricks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3,000,000 / year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K195 / brick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K300 / brick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K900,000,000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Face Bricks (Premium)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1,800,000 / year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K335 / brick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K510–K650/brick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K1,170,000,000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4,800,000 / year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K2,070,000,000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PRICING &amp; MARKET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PRICING &amp; MARKET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Cost per m² of Wall — NEVAGS vs Alternatives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1127455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A standard half-brick wall (1 m²) requires 59 standard bricks or 12 cement blocks.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Cement Blocks
(12 blocks × K3,000)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92224"/>
            <a:ext cx="6583680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6688" y="18288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K36,000 /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Most expensive option. Requires extra mortar, rebar and skilled labour. High transport cost to Mulanje District.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NEVAGS VSK Bricks
(59 bricks × K300)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300984"/>
            <a:ext cx="3239170" cy="40233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2178" y="3337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K17,700 / m²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67912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LEGAL  ·  LOCAL  ·  AFFORDABLE — 51% cheaper than cement. Policy compliant. Eligible for all government and NGO projects.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Traditional Firewood Bricks
(BANNED BY GOVERNMENT)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809744"/>
            <a:ext cx="1619585" cy="40233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2593" y="4846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K8,850 / 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76672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BANNED by Malawi Government. Using these bricks is illegal. Not eligible for any formal or government-funded construction project.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82512"/>
            <a:ext cx="11274552" cy="43891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NEVAGS IS 51% CHEAPER THAN CEMENT BLOCKS  ·  The only legal, affordable, locally produced alternative in Mulanje District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ENVIRONMENTAL &amp; SOCIAL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ENVIRONMENTAL &amp; SOCIAL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Built for a Sustainable Malawi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4C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SDG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Good Health &amp; Well-Being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2651760" cy="34015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9572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Worker safety compliance ≥95%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PPE provided for all 51 workers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Reduced air &amp; dust pollution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Community health protection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45920"/>
            <a:ext cx="2651760" cy="640080"/>
          </a:xfrm>
          <a:prstGeom prst="rect">
            <a:avLst/>
          </a:prstGeom>
          <a:solidFill>
            <a:srgbClr val="BF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190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SDG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Gender Equality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286000"/>
            <a:ext cx="2651760" cy="34015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39572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15 female employees (29%)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Equal pay policy — no exceptions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Female leadership roles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Target: ≥30% women by Phase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645920"/>
            <a:ext cx="2651760" cy="640080"/>
          </a:xfrm>
          <a:prstGeom prst="rect">
            <a:avLst/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7190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SDG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Climate 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651760" cy="34015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9572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Zero firewood in all production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Biomass briquette fuel only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Carbon emission reduction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Supports national climate targets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1645920"/>
            <a:ext cx="2651760" cy="640080"/>
          </a:xfrm>
          <a:prstGeom prst="rect">
            <a:avLst/>
          </a:prstGeom>
          <a:solidFill>
            <a:srgbClr val="56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7190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SDG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Life on Land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2286000"/>
            <a:ext cx="2651760" cy="340156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395728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Zero deforestation impact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Protects the Mulanje Massif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Biodiversity preservation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5563"/>
                </a:solidFill>
                <a:latin typeface="Calibri"/>
              </a:rPr>
              <a:t>Water catchment protection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33872"/>
            <a:ext cx="11274552" cy="7132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7044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ZERO-WASTE CIRCULAR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081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EECC"/>
                </a:solidFill>
                <a:latin typeface="Calibri"/>
              </a:rPr>
              <a:t>Dust &amp; clay waste → recovered and reused  ·  Agricultural biomass → briquette kiln fuel  ·  Organic waste → Biogas (2nd kiln, 14 months)  ·  Kiln ash → soil amendment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EMPLOYMENT &amp; JOB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EMPLOYMENT &amp; JOB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51 Jobs Today. 8,000+ in 3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2788920" cy="12801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Current Employees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15 Female · 36 Male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645920"/>
            <a:ext cx="2788920" cy="1280160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200+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Internal 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3-year target, all departments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45920"/>
            <a:ext cx="2788920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5,000+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Community Moulders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Trained green-brick producers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645920"/>
            <a:ext cx="2788920" cy="128016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645920"/>
            <a:ext cx="278892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737360"/>
            <a:ext cx="2423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2,500+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249424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Biomass Suppliers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4688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Rice husks &amp; agri waste providers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063240"/>
            <a:ext cx="3749039" cy="3246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063240"/>
            <a:ext cx="34747" cy="3246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1821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C2B28"/>
                </a:solidFill>
                <a:latin typeface="Calibri"/>
              </a:rPr>
              <a:t>Community Brick Moulding Programme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566160"/>
            <a:ext cx="3474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NEVAGS trains community members to produce VSK-quality green bricks at local level. We purchase directly from them and fire in our kiln. This creates genuine self-employment at community scale — no middleman.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2" y="3063240"/>
            <a:ext cx="3749039" cy="3246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0832" y="3063240"/>
            <a:ext cx="34747" cy="324612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5424" y="31821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C2B28"/>
                </a:solidFill>
                <a:latin typeface="Calibri"/>
              </a:rPr>
              <a:t>Biomass &amp; Rice Husk Supply Chain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3566160"/>
            <a:ext cx="3474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We purchase rice husks, maize cobs and agricultural biomass from community farmers. Farm waste becomes clean energy income — turning zero-value materials into a predictable new rural revenue stream for Mulanje's agricultural sector.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84464" y="3063240"/>
            <a:ext cx="3749039" cy="3246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84464" y="3063240"/>
            <a:ext cx="34747" cy="32461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31821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C2B28"/>
                </a:solidFill>
                <a:latin typeface="Calibri"/>
              </a:rPr>
              <a:t>Internal Growth — All Departments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056" y="3566160"/>
            <a:ext cx="3474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Beyond operations, NEVAGS scales across Sales, HR, Finance, Admin and a dedicated Mechanical Engineering &amp; Maintenance department. 200+ formal, permanent jobs within 3 years — above minimum wage, no exceptions.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6528816"/>
            <a:ext cx="7754112" cy="1828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21040" y="6528816"/>
            <a:ext cx="3246120" cy="18288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6480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Male  71%  (36 staff)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6464808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Female  29%  (15 staff)  —  SDG 5  ·  Target ≥30% by Phase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WORKFORCE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WORKFORCE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KPI-Driven Phased Scaling — Apr to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4592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11680"/>
                <a:gridCol w="1508760"/>
                <a:gridCol w="2743200"/>
                <a:gridCol w="34564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Staff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Daily Output Target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KPIs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Startup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Wk 1–2  Apr 6–19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18 staff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Site commissioning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Safety ≥95%  ·  Downtime &lt;10%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Wk 3–4  Apr–May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33 staff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≥3,000 bricks/day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Output ≥3,000/day  ·  Cost ≤K195/brick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Wk 5–8  May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39–40 staff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≥5,000 bricks/day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Kiln util &gt;80%  ·  Orders &gt;50,000/wk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Phase 3 (Full)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Wk 9–13  Jun–Jul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45 staff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≥7,000 bricks/day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Active clients ≥5  ·  Double-shift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Expansion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2026–2029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200+ internal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Doubled capacity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8,000+ ecosystem jobs  ·  Biogas kiln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Compensation Philosophy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3749039" cy="1920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34747" cy="192024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5262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E8690A"/>
                </a:solidFill>
                <a:latin typeface="Calibri"/>
              </a:rPr>
              <a:t>Senior &amp; Management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864608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DCC"/>
                </a:solidFill>
                <a:latin typeface="Calibri"/>
              </a:rPr>
              <a:t>Competitive market-rate remuneration — above-market base salaries reflecting expertise and business contribution.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4434840"/>
            <a:ext cx="3749039" cy="1920240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4434840"/>
            <a:ext cx="34747" cy="192024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45262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E8690A"/>
                </a:solidFill>
                <a:latin typeface="Calibri"/>
              </a:rPr>
              <a:t>General Workers &amp; Supervisors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864608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DCC"/>
                </a:solidFill>
                <a:latin typeface="Calibri"/>
              </a:rPr>
              <a:t>Above statutory minimum wage — no exceptions. Stable year-round income with career progression tied directly to measurable KPI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4" y="4434840"/>
            <a:ext cx="3749039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4464" y="4434840"/>
            <a:ext cx="34747" cy="192024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45262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E8690A"/>
                </a:solidFill>
                <a:latin typeface="Calibri"/>
              </a:rPr>
              <a:t>Community Moulders &amp; Biomass Suppliers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864608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DCC"/>
                </a:solidFill>
                <a:latin typeface="Calibri"/>
              </a:rPr>
              <a:t>Direct purchase payments at guaranteed rates. Offtake agreements create predictable, sustainable income for community entrepreneurs.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OPERATIONAL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OPERATIONAL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3-Month Operational Budget Breakdown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4592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Budget Line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Amount (MWK)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marT="36576" marB="36576">
                    <a:solidFill>
                      <a:srgbClr val="1B433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Salaries &amp; Wages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K20.3M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All 51 staff, 3 months — above minimum wage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Raw Materials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K7.5M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Clay, binding agents, consumables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Machinery &amp; Tools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K4.6M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Maintenance, spare parts, equipment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PPE &amp; Safety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K4.7M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Personal protective equipment for all staff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Office &amp; IT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K2.6M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Admin, communications, office operations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Utilities &amp; Energy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K1.6M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ESCOM power, water, fuel logistics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Marketing &amp; Sales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K1.0M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Client outreach, DEC, tenders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Insurance &amp; Admin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K0.7M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B5563"/>
                          </a:solidFill>
                          <a:latin typeface="Calibri"/>
                        </a:rPr>
                        <a:t>Business insurance, legal, compliance</a:t>
                      </a:r>
                    </a:p>
                  </a:txBody>
                  <a:tcPr marL="91440" marR="91440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589520" y="1645920"/>
            <a:ext cx="4142232" cy="144475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645920"/>
            <a:ext cx="34747" cy="1444752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55648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TOTAL 3-MONTH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29968"/>
            <a:ext cx="3749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K43.0 Million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651760"/>
            <a:ext cx="374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DCC"/>
                </a:solidFill>
                <a:latin typeface="Calibri"/>
              </a:rPr>
              <a:t>Approx. USD 24,700  ·  3-month operational runway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246120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Budget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566160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Salaries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3602736"/>
            <a:ext cx="3931920" cy="23774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011912" y="35661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K20.3M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96512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Raw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4133088"/>
            <a:ext cx="1452679" cy="237744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32671" y="409651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K7.5M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626864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Machinery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4663440"/>
            <a:ext cx="890976" cy="23774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0968" y="462686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K4.6M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157216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PPE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5193792"/>
            <a:ext cx="910346" cy="23774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0338" y="515721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K4.7M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687568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Office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724144"/>
            <a:ext cx="503595" cy="237744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3587" y="568756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K2.6M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217920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Utilities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6254496"/>
            <a:ext cx="309905" cy="23774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9897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K1.6M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6748272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Marketing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6784848"/>
            <a:ext cx="193690" cy="237744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73682" y="67482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K1.0M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7278624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Insurance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7315200"/>
            <a:ext cx="135583" cy="23774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5575" y="727862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1C2B28"/>
                </a:solidFill>
                <a:latin typeface="Calibri"/>
              </a:rPr>
              <a:t>K0.7M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PARTNERS &amp;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PARTNERS &amp;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Backed by Leading Institutions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3749039" cy="22128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4747" cy="22128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55648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GIZ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677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Deutsche Gesellschaft fur Internationale Zusammenarbeit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6151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Technical &amp; Financial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889504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German Development Cooperation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1645920"/>
            <a:ext cx="3749039" cy="22128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645920"/>
            <a:ext cx="34747" cy="22128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1755648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Atmosfair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2677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German Climate Protection NGO  ·  Berlin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6151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Carbon Finance &amp; Loan Provider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2889504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EUR 175,000 (2nd Amendment, Apr 2026)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1645920"/>
            <a:ext cx="3749039" cy="22128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4464" y="1645920"/>
            <a:ext cx="34747" cy="22128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1755648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CCODE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226771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Centre for Community Organisation &amp;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61518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Community Engagement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2889504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Local Development Partner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05072"/>
            <a:ext cx="3749039" cy="22128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05072"/>
            <a:ext cx="34747" cy="22128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1148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TERA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6268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Technical &amp; Environmental Research Associates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97433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Environmental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248656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Research &amp; Advisory Partner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2" y="4005072"/>
            <a:ext cx="3749039" cy="22128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70832" y="4005072"/>
            <a:ext cx="34747" cy="22128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5424" y="41148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MUBAS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46268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Malawi University of Business &amp; Applied Sciences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5424" y="497433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Academic 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5424" y="5248656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Skills Development &amp; Knowledge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4464" y="4005072"/>
            <a:ext cx="3749039" cy="22128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84464" y="4005072"/>
            <a:ext cx="34747" cy="22128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41148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  <a:latin typeface="Calibri"/>
              </a:rPr>
              <a:t>CIRA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46268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  <a:latin typeface="Calibri"/>
              </a:rPr>
              <a:t>Construction Industry Regulatory Authority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497433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C2B28"/>
                </a:solidFill>
                <a:latin typeface="Calibri"/>
              </a:rPr>
              <a:t>Industry Compliance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5248656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Market Standards &amp; Development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11274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Government  ·  NGOs &amp; Development Finance  ·  Academic Institutions  ·  Industry Regulators  ·  Community Organisations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IMPLEMENTATION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Phased Growth Plan — 2026 to 2029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2651760" cy="53035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007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385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Apr – May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76272"/>
            <a:ext cx="2651760" cy="41879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2402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C2B28"/>
                </a:solidFill>
                <a:latin typeface="Calibri"/>
              </a:rPr>
              <a:t>Foundation &amp;
Commissioning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761488"/>
            <a:ext cx="2423160" cy="32918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788920"/>
            <a:ext cx="23042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E8690A"/>
                </a:solidFill>
                <a:latin typeface="Calibri"/>
              </a:rPr>
              <a:t>27 May 2026 — Commissioning Ceremony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15468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VSK kiln commissioning complete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18 → 33 staff on-boarded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Moulding operations launched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≥3,000 bricks/day output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First client engagements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645920"/>
            <a:ext cx="2651760" cy="530352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7007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19385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May – Jun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92424" y="2176272"/>
            <a:ext cx="2651760" cy="41879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22402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C2B28"/>
                </a:solidFill>
                <a:latin typeface="Calibri"/>
              </a:rPr>
              <a:t>Scale
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9584" y="2816352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Output scaled to ≥5,000/day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39–40 staff deployed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Kiln utilisation &gt;80%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50,000+ bricks/week orders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Market penetration 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1645920"/>
            <a:ext cx="265176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17007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19385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Jun – Jul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2176272"/>
            <a:ext cx="2651760" cy="41879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22402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C2B28"/>
                </a:solidFill>
                <a:latin typeface="Calibri"/>
              </a:rPr>
              <a:t>Full-Scale
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2816352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45 staff at full capacity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Output ≥7,000 bricks/day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≥5 active bulk clients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Double-shift introduced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Revenue targets met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62872" y="1645920"/>
            <a:ext cx="2651760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1700784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193852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2026 – 2029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62872" y="2176272"/>
            <a:ext cx="2651760" cy="41879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22402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C2B28"/>
                </a:solidFill>
                <a:latin typeface="Calibri"/>
              </a:rPr>
              <a:t>Expansion &amp;
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2816352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200+ internal staff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8,000+ ecosystem jobs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Biogas 2nd kiln shaft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Revenue &gt;$2.5M USD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4B5563"/>
                </a:solidFill>
                <a:latin typeface="Calibri"/>
              </a:rPr>
              <a:t>Southern Africa expansion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355080"/>
            <a:ext cx="34747" cy="457200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4008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 14 MONTHS: Biogas-Powered 2nd VSK Kiln Shaft — First Biogas Brick Producer in Malawi  ·  Doubles Capacity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A RELATIONSHIP OF MUTUAL BENEFIT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A RELATIONSHIP OF MUTUAL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Why Mulanje Needs NEVAGS  ·  Why NEVAGS Needs Mulanje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1005840" cy="3474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5669280" cy="4956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4747" cy="49560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55648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WHY MULANJE DISTRICT NEEDS NEVAGS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048256"/>
            <a:ext cx="5394960" cy="16459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21408"/>
            <a:ext cx="5349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Policy Compliance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EECC"/>
                </a:solidFill>
                <a:latin typeface="Calibri"/>
              </a:rPr>
              <a:t>NEVAGS is the only VSK producer in the district — the only legal solution to the firewood ban. Every government and NGO project needs compliant bricks.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8,000+ Jobs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EECC"/>
                </a:solidFill>
                <a:latin typeface="Calibri"/>
              </a:rPr>
              <a:t>The largest potential job creator in Mulanje history — from factory floor to the community supply chain, within 3 years.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Forest Protection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EECC"/>
                </a:solidFill>
                <a:latin typeface="Calibri"/>
              </a:rPr>
              <a:t>Every NEVAGS brick protects the Mulanje Massif's forests, water catchments and biodiversity.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Black-Owned Pioneer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EECC"/>
                </a:solidFill>
                <a:latin typeface="Calibri"/>
              </a:rPr>
              <a:t>One of the first black-owned industrial enterprises in Mulanje. Supporting NEVAGS sends a historic signal for the district.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Local Economy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EECC"/>
                </a:solidFill>
                <a:latin typeface="Calibri"/>
              </a:rPr>
              <a:t>Revenue stays in Mulanje — wages, local supply purchases, and growing district tax revenues.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5669280" cy="4956048"/>
          </a:xfrm>
          <a:prstGeom prst="rect">
            <a:avLst/>
          </a:prstGeom>
          <a:solidFill>
            <a:srgbClr val="1C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34747" cy="495604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755648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WHY NEVAGS NEEDS MULANJE DISTRICT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2048256"/>
            <a:ext cx="5394960" cy="16459"/>
          </a:xfrm>
          <a:prstGeom prst="rect">
            <a:avLst/>
          </a:prstGeom>
          <a:solidFill>
            <a:srgbClr val="406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121408"/>
            <a:ext cx="5349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DEC Endorsement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  <a:latin typeface="Calibri"/>
              </a:rPr>
              <a:t>Formal endorsement unlocks government procurement — millions of bricks in guaranteed long-term contracts.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Workforce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  <a:latin typeface="Calibri"/>
              </a:rPr>
              <a:t>Mulanje's community is our talent pool. District cooperation enables the community training and moulding programme.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Biomass Supply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  <a:latin typeface="Calibri"/>
              </a:rPr>
              <a:t>Rice husks and farm biomass from Mulanje's farmers are our kiln fuel. We need the agricultural sector as a strategic partner.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Infrastructure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  <a:latin typeface="Calibri"/>
              </a:rPr>
              <a:t>Stable ESCOM power, road access and land tenure security require district-level facilitation.</a:t>
            </a:r>
          </a:p>
          <a:p>
            <a:pPr>
              <a:spcBef>
                <a:spcPts val="200"/>
              </a:spcBef>
            </a:pPr>
            <a:r>
              <a:rPr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F59E0B"/>
                </a:solidFill>
                <a:latin typeface="Calibri"/>
              </a:rPr>
              <a:t>Policy Champion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  <a:latin typeface="Calibri"/>
              </a:rPr>
              <a:t>As a pioneering black enterprise, NEVAGS needs the DEC to champion, protect and amplify our growth.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1731752" cy="54864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NEVAGS ECO BRICK &amp;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88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PARTNERSHIP INVITATION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18872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May 2026  · 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57200"/>
            <a:ext cx="12188952" cy="201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7316"/>
            <a:ext cx="12188952" cy="7315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008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PARTNERSHIP INVITATION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86868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C2B28"/>
                </a:solidFill>
                <a:latin typeface="Calibri"/>
              </a:rPr>
              <a:t>Let’s Build Malawi’s
Sustainable Future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NEVAGS asks the District Executive Committee for three things: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04288"/>
            <a:ext cx="3657600" cy="21214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304288"/>
            <a:ext cx="34747" cy="212140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D1D5DB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37744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Recognition &amp; Endorsement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2798064"/>
            <a:ext cx="3383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Formally recognise NEVAGS as a strategic district partner — opening government procurement, NGO supply contracts and public sector projects.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304288"/>
            <a:ext cx="3657600" cy="21214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2304288"/>
            <a:ext cx="34747" cy="2121408"/>
          </a:xfrm>
          <a:prstGeom prst="rect">
            <a:avLst/>
          </a:prstGeom>
          <a:solidFill>
            <a:srgbClr val="E86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774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37744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Community Programme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798064"/>
            <a:ext cx="3383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Facilitate community outreach, training endorsement and biomass supply chain development through district channels and networks.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2304288"/>
            <a:ext cx="3657600" cy="21214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304288"/>
            <a:ext cx="34747" cy="212140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37744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37744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C2B28"/>
                </a:solidFill>
                <a:latin typeface="Calibri"/>
              </a:rPr>
              <a:t>Infrastructure Facilitation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2798064"/>
            <a:ext cx="3383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Support stable ESCOM power, road infrastructure and land tenure security — the foundational requirements for NEVAGS to scale and deliver on all commitments.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572000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8690A"/>
                </a:solidFill>
                <a:latin typeface="Calibri"/>
              </a:rPr>
              <a:t>CONTACTS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828032"/>
            <a:ext cx="3657600" cy="1719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828032"/>
            <a:ext cx="34747" cy="17190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901184"/>
            <a:ext cx="3383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E8690A"/>
                </a:solidFill>
                <a:latin typeface="Calibri"/>
              </a:rPr>
              <a:t>Managing Director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12064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Charles Billy Nasala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46811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+265 888 34 75 75  ·  +265 99 751 0160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74243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nasalacharles.b@gmail.com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4828032"/>
            <a:ext cx="3657600" cy="1719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4828032"/>
            <a:ext cx="34747" cy="17190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2" y="4901184"/>
            <a:ext cx="3383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E8690A"/>
                </a:solidFill>
                <a:latin typeface="Calibri"/>
              </a:rPr>
              <a:t>Founding Engineer &amp; BD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512064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Chancy Tausi Tsonga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46811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+265 984 000 366  ·  WA: +27 764 998 4601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2" y="574243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chancy.tsonga@yahoo.com  ·  chancytsonga.com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4828032"/>
            <a:ext cx="3657600" cy="1719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4828032"/>
            <a:ext cx="34747" cy="17190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4901184"/>
            <a:ext cx="3383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E8690A"/>
                </a:solidFill>
                <a:latin typeface="Calibri"/>
              </a:rPr>
              <a:t>Careers &amp; Head Office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9912" y="512064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C2B28"/>
                </a:solidFill>
                <a:latin typeface="Calibri"/>
              </a:rPr>
              <a:t>NEVAGS Human Resources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9912" y="546811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careers.nevags@gmail.com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9912" y="574243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Musewu, Mulanje District  ·  P.O. Box 90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510528"/>
            <a:ext cx="11274552" cy="3474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547104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NEVAGS ECO BRICK &amp; CONSTRUCTION  ·  Reg. 46289  ·  Musewu, Mulanje, Malawi  ·  Building Tomorrow Sustainably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
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463040"/>
            <a:ext cx="11777472" cy="54864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DISTRICT EXECUTIVE COMMITTEE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692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AABBAA"/>
                </a:solidFill>
                <a:latin typeface="Calibri"/>
              </a:rPr>
              <a:t>Mulanje District, Malawi  · 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NEVAGS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8892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 i="0">
                <a:solidFill>
                  <a:srgbClr val="40916C"/>
                </a:solidFill>
                <a:latin typeface="Calibri"/>
              </a:rPr>
              <a:t>ECO BRICK &amp;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3756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1">
                <a:solidFill>
                  <a:srgbClr val="CCDDCC"/>
                </a:solidFill>
                <a:latin typeface="Calibri"/>
              </a:rPr>
              <a:t>"Building Tomorrow Sustainably"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526280"/>
            <a:ext cx="2651760" cy="10515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6360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K450M+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93208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Capital Invested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30952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Founder + Atmosfair EUR 175K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4526280"/>
            <a:ext cx="2651760" cy="105156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46360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DBA74"/>
                </a:solidFill>
                <a:latin typeface="Calibri"/>
              </a:rPr>
              <a:t>51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093208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Current Workforce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5330952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15 Female · 36 Male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4526280"/>
            <a:ext cx="2651760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46360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K2.07B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093208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Revenue Potential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330952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Annual MWK at full capacity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23960" y="4526280"/>
            <a:ext cx="2651760" cy="105156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0" y="46360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8,000+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5093208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Jobs in 3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5330952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Direct + Community ecosystem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315968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DBA74"/>
                </a:solidFill>
                <a:latin typeface="Calibri"/>
              </a:rPr>
              <a:t>One of the first black-owned industrial companies in Mulanje District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COMPANY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Why NEVAGS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9496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457200" cy="4572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1C2B28"/>
                </a:solidFill>
                <a:latin typeface="Calibri"/>
              </a:rPr>
              <a:t>Malawi's Housing &amp; Deforestation Crisis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• Over 80–90% of houses in Malawi are built with fired clay bricks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• For decades, bricks were fired using massive quantities of firewood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• Malawi has one of the fastest deforestation rates in Africa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• Deforestation causes soil erosion, flooding, biodiversity loss</a:t>
            </a:r>
          </a:p>
          <a:p>
            <a:pPr algn="l"/>
            <a:r>
              <a:rPr sz="600" b="0" i="0">
                <a:solidFill>
                  <a:srgbClr val="1C2B28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1C2B28"/>
                </a:solidFill>
                <a:latin typeface="Calibri"/>
              </a:rPr>
              <a:t>The Government's Response</a:t>
            </a:r>
          </a:p>
          <a:p>
            <a:pPr algn="l">
              <a:spcBef>
                <a:spcPts val="500"/>
              </a:spcBef>
            </a:pPr>
            <a:r>
              <a:rPr sz="1000" b="1" i="0">
                <a:solidFill>
                  <a:srgbClr val="CC0000"/>
                </a:solidFill>
                <a:latin typeface="Calibri"/>
              </a:rPr>
              <a:t>• Malawi Government BANNED firewood-fired bricks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• This creates a critical supply gap across the construction sector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• Developers, NGOs, and government projects need a legal alternative</a:t>
            </a:r>
          </a:p>
          <a:p>
            <a:pPr algn="l">
              <a:spcBef>
                <a:spcPts val="300"/>
              </a:spcBef>
            </a:pPr>
            <a:r>
              <a:rPr sz="1000" b="1" i="0">
                <a:solidFill>
                  <a:srgbClr val="1B4332"/>
                </a:solidFill>
                <a:latin typeface="Calibri"/>
              </a:rPr>
              <a:t>• Demand is policy-driven, long-term, and nationwide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943600" cy="512064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508760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THE 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783080"/>
            <a:ext cx="457200" cy="4572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874519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NEVAGS Eco Brick &amp; Construction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CDDCC"/>
                </a:solidFill>
                <a:latin typeface="Calibri"/>
              </a:rPr>
              <a:t>Operating from Musewu, Mulanje District, we deploy VSK (Vertical Shaft Kiln) technology fuelled entirely by biomass briquettes — producing high-quality bricks with zero firewood.</a:t>
            </a:r>
          </a:p>
          <a:p>
            <a:pPr algn="l"/>
            <a:r>
              <a:rPr sz="500" b="0" i="0">
                <a:solidFill>
                  <a:srgbClr val="1C2B28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90EE90"/>
                </a:solidFill>
                <a:latin typeface="Calibri"/>
              </a:rPr>
              <a:t>✓  Zero firewood — 100% policy compliant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CC"/>
                </a:solidFill>
                <a:latin typeface="Calibri"/>
              </a:rPr>
              <a:t>✓  Scalable industrial production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CC"/>
                </a:solidFill>
                <a:latin typeface="Calibri"/>
              </a:rPr>
              <a:t>✓  Affordable pricing for developers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CC"/>
                </a:solidFill>
                <a:latin typeface="Calibri"/>
              </a:rPr>
              <a:t>✓  Located in the heart of Mulanje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CC"/>
                </a:solidFill>
                <a:latin typeface="Calibri"/>
              </a:rPr>
              <a:t>✓  Already employing 51 community members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CDDCC"/>
                </a:solidFill>
                <a:latin typeface="Calibri"/>
              </a:rPr>
              <a:t>✓  Backed by GIZ, Atmosfair &amp; research partners</a:t>
            </a:r>
          </a:p>
          <a:p>
            <a:pPr algn="l"/>
            <a:r>
              <a:rPr sz="500" b="0" i="0">
                <a:solidFill>
                  <a:srgbClr val="1C2B28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000" b="1" i="1">
                <a:solidFill>
                  <a:srgbClr val="F59E0B"/>
                </a:solidFill>
                <a:latin typeface="Calibri"/>
              </a:rPr>
              <a:t>"When we build, let us think that we build forever."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BBAA"/>
                </a:solidFill>
                <a:latin typeface="Calibri"/>
              </a:rPr>
              <a:t>— John Ruskin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COMPANY OWNERSHIP &amp; 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Leadership &amp; Registration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1640312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26464"/>
            <a:ext cx="11338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🏆  One of the first black-owned industrial companies in Mulanje District — a pioneer enterprise building a legacy of community ownership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11680"/>
            <a:ext cx="3657600" cy="4114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2011680"/>
            <a:ext cx="3657600" cy="73152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FOUNDER, OWNER &amp;
MANAGING DIRECTOR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42032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Charles Billy Nasala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3200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CC"/>
                </a:solidFill>
                <a:latin typeface="Calibri"/>
              </a:rPr>
              <a:t>Entrepreneur, industrial innovator, and community development champion. Founder of one of Malawi's first VSK brick enterprises.</a:t>
            </a:r>
          </a:p>
          <a:p>
            <a:pPr algn="l"/>
            <a:r>
              <a:rPr sz="400" b="0" i="0">
                <a:solidFill>
                  <a:srgbClr val="1C2B28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AAFFAA"/>
                </a:solidFill>
                <a:latin typeface="Calibri"/>
              </a:rPr>
              <a:t>📞  +265 888 34 75 75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FFAA"/>
                </a:solidFill>
                <a:latin typeface="Calibri"/>
              </a:rPr>
              <a:t>📞  +265 99 751 0160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DBA74"/>
                </a:solidFill>
                <a:latin typeface="Calibri"/>
              </a:rPr>
              <a:t>✉   nasalacharles.b@gmail.com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011680"/>
            <a:ext cx="3657600" cy="411480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0" y="2011680"/>
            <a:ext cx="3657600" cy="73152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10312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FOUNDING ENGINEER &amp;
BUSINESS DEVELOPMENT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542032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Chancy Tausi Tsonga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63240"/>
            <a:ext cx="3200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CC"/>
                </a:solidFill>
                <a:latin typeface="Calibri"/>
              </a:rPr>
              <a:t>VSK technology specialist, construction innovator, and strategic partner. Leads business development and market expansion.</a:t>
            </a:r>
          </a:p>
          <a:p>
            <a:pPr algn="l"/>
            <a:r>
              <a:rPr sz="400" b="0" i="0">
                <a:solidFill>
                  <a:srgbClr val="1C2B28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AAFFAA"/>
                </a:solidFill>
                <a:latin typeface="Calibri"/>
              </a:rPr>
              <a:t>📞  +265 984 000 366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FFAA"/>
                </a:solidFill>
                <a:latin typeface="Calibri"/>
              </a:rPr>
              <a:t>💬  WhatsApp: +27 764 998 4601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DBA74"/>
                </a:solidFill>
                <a:latin typeface="Calibri"/>
              </a:rPr>
              <a:t>✉   chancy.tsonga@yahoo.com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90D0FF"/>
                </a:solidFill>
                <a:latin typeface="Calibri"/>
              </a:rPr>
              <a:t>🌐  chancytsonga.com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011680"/>
            <a:ext cx="3959352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2011680"/>
            <a:ext cx="3959352" cy="73152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1031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COMPANY DETAILS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2316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1C2B28"/>
                </a:solidFill>
                <a:latin typeface="Calibri"/>
              </a:rPr>
              <a:t>Registered Entity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New Vision Anenenji Construction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Registration No. 46289</a:t>
            </a:r>
          </a:p>
          <a:p>
            <a:pPr algn="l"/>
            <a:r>
              <a:rPr sz="400" b="0" i="0">
                <a:solidFill>
                  <a:srgbClr val="1C2B28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1C2B28"/>
                </a:solidFill>
                <a:latin typeface="Calibri"/>
              </a:rPr>
              <a:t>Location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Musewu, Mulanje District
Southern Malawi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P.O. Box 90, Mulanje</a:t>
            </a:r>
          </a:p>
          <a:p>
            <a:pPr algn="l"/>
            <a:r>
              <a:rPr sz="400" b="0" i="0">
                <a:solidFill>
                  <a:srgbClr val="1C2B28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1C2B28"/>
                </a:solidFill>
                <a:latin typeface="Calibri"/>
              </a:rPr>
              <a:t>Operational Reach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64748B"/>
                </a:solidFill>
                <a:latin typeface="Calibri"/>
              </a:rPr>
              <a:t>Blantyre · Lilongwe · Mzuzu
Southern Africa expansion planned</a:t>
            </a:r>
          </a:p>
          <a:p>
            <a:pPr algn="l"/>
            <a:r>
              <a:rPr sz="400" b="0" i="0">
                <a:solidFill>
                  <a:srgbClr val="1C2B28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1C2B28"/>
                </a:solidFill>
                <a:latin typeface="Calibri"/>
              </a:rPr>
              <a:t>Careers / HR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E8690A"/>
                </a:solidFill>
                <a:latin typeface="Calibri"/>
              </a:rPr>
              <a:t>careers.nevags@gmail.com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MISSION, VISION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Our Strategic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3749039" cy="51206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01368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What We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33832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EEDD"/>
                </a:solidFill>
                <a:latin typeface="Calibri"/>
              </a:rPr>
              <a:t>To produce high-quality, environmentally compliant bricks using VSK technology and biomass briquettes — providing affordable building materials that support Malawi's housing sector while protecting forests, creating jobs, and empowering communities in Mulanje District and beyond.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371600"/>
            <a:ext cx="3749039" cy="512064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50876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801368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Where We're Going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94560"/>
            <a:ext cx="33832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Calibri"/>
              </a:rPr>
              <a:t>To build a scalable ecosystem for sustainable, affordable, and climate-resilient housing across Malawi and Southern Africa — positioning NEVAGS as the benchmark for eco-industrial construction innovation on the African continent.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3776472" cy="5120640"/>
          </a:xfrm>
          <a:prstGeom prst="rect">
            <a:avLst/>
          </a:prstGeom>
          <a:solidFill>
            <a:srgbClr val="1C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50876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STRATEGIC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801368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Key 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94560"/>
            <a:ext cx="3429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Produce 4.8M+ bricks/year — zero firewood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Scale to 200+ internal employees in 3 years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Create 8,000+ jobs in the district ecosystem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Achieve 30–45% annual ROI for investors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Commission biogas 2nd kiln shaft in 14 months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Expand to Blantyre, Lilongwe &amp; Mzuzu markets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Maintain ≥30% female employment — SDG 5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Full ESG compliance — SDGs 3, 5, 13,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solidFill>
            <a:srgbClr val="0814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FDBA74"/>
                </a:solidFill>
                <a:latin typeface="Calibri"/>
              </a:rPr>
              <a:t>"Civilizations are remembered by what they build. The responsibility of our generation is to build differently."  — Chancy Tausi Tsonga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PRODUCTS &amp;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3657600" cy="50292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527048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690A"/>
                </a:solidFill>
                <a:latin typeface="Calibri"/>
              </a:rPr>
              <a:t>CORE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73736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Ordinary VSK Bricks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221992"/>
            <a:ext cx="3657600" cy="36576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2304288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Production Cost: </a:t>
            </a:r>
            <a:r>
              <a:rPr sz="900">
                <a:solidFill>
                  <a:srgbClr val="FFFFFF"/>
                </a:solidFill>
                <a:latin typeface="Calibri"/>
              </a:rPr>
              <a:t>K195/brick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Selling Price: </a:t>
            </a:r>
            <a:r>
              <a:rPr sz="900">
                <a:solidFill>
                  <a:srgbClr val="FFFFFF"/>
                </a:solidFill>
                <a:latin typeface="Calibri"/>
              </a:rPr>
              <a:t>K300/brick (QS Rate)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Margin: </a:t>
            </a:r>
            <a:r>
              <a:rPr sz="900">
                <a:solidFill>
                  <a:srgbClr val="FFFFFF"/>
                </a:solidFill>
                <a:latin typeface="Calibri"/>
              </a:rPr>
              <a:t>35% · K105/brick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Capacity: </a:t>
            </a:r>
            <a:r>
              <a:rPr sz="900">
                <a:solidFill>
                  <a:srgbClr val="FFFFFF"/>
                </a:solidFill>
                <a:latin typeface="Calibri"/>
              </a:rPr>
              <a:t>3,000,000 / year</a:t>
            </a:r>
          </a:p>
          <a:p/>
        </p:txBody>
      </p:sp>
      <p:sp>
        <p:nvSpPr>
          <p:cNvPr id="11" name="Rectangle 10"/>
          <p:cNvSpPr/>
          <p:nvPr/>
        </p:nvSpPr>
        <p:spPr>
          <a:xfrm>
            <a:off x="438912" y="4251960"/>
            <a:ext cx="3328416" cy="27432"/>
          </a:xfrm>
          <a:prstGeom prst="rect">
            <a:avLst/>
          </a:prstGeom>
          <a:solidFill>
            <a:srgbClr val="40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4325112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100% firewood-free — fully legal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Passes Malawi govt compliance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Suitable for all construction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Competitive vs cement blocks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657600" cy="502920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527048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690A"/>
                </a:solidFill>
                <a:latin typeface="Calibri"/>
              </a:rPr>
              <a:t>PREMIUM 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173736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Face Bricks (Double-Faced)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221992"/>
            <a:ext cx="3657600" cy="36576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304288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Production Cost: </a:t>
            </a:r>
            <a:r>
              <a:rPr sz="900">
                <a:solidFill>
                  <a:srgbClr val="FFFFFF"/>
                </a:solidFill>
                <a:latin typeface="Calibri"/>
              </a:rPr>
              <a:t>K335/brick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Selling Price: </a:t>
            </a:r>
            <a:r>
              <a:rPr sz="900">
                <a:solidFill>
                  <a:srgbClr val="FFFFFF"/>
                </a:solidFill>
                <a:latin typeface="Calibri"/>
              </a:rPr>
              <a:t>K510–K650/brick (QS)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Margin: </a:t>
            </a:r>
            <a:r>
              <a:rPr sz="900">
                <a:solidFill>
                  <a:srgbClr val="FFFFFF"/>
                </a:solidFill>
                <a:latin typeface="Calibri"/>
              </a:rPr>
              <a:t>34% · K175/brick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Capacity: </a:t>
            </a:r>
            <a:r>
              <a:rPr sz="900">
                <a:solidFill>
                  <a:srgbClr val="FFFFFF"/>
                </a:solidFill>
                <a:latin typeface="Calibri"/>
              </a:rPr>
              <a:t>1,800,000 / year</a:t>
            </a:r>
          </a:p>
          <a:p/>
        </p:txBody>
      </p:sp>
      <p:sp>
        <p:nvSpPr>
          <p:cNvPr id="18" name="Rectangle 17"/>
          <p:cNvSpPr/>
          <p:nvPr/>
        </p:nvSpPr>
        <p:spPr>
          <a:xfrm>
            <a:off x="4370832" y="4251960"/>
            <a:ext cx="3328416" cy="27432"/>
          </a:xfrm>
          <a:prstGeom prst="rect">
            <a:avLst/>
          </a:prstGeom>
          <a:solidFill>
            <a:srgbClr val="40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325112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Premium surface finish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Higher absolute margin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Commercial &amp; residential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Supports early-phase revenue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417320"/>
            <a:ext cx="3657600" cy="5029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527048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690A"/>
                </a:solidFill>
                <a:latin typeface="Calibri"/>
              </a:rPr>
              <a:t>ECO INNOVATION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173736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Biomass Briquettes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2221992"/>
            <a:ext cx="3657600" cy="36576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2304288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Production Cost: </a:t>
            </a:r>
            <a:r>
              <a:rPr sz="900">
                <a:solidFill>
                  <a:srgbClr val="FFFFFF"/>
                </a:solidFill>
                <a:latin typeface="Calibri"/>
              </a:rPr>
              <a:t>Agri waste feedstock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Selling Price: </a:t>
            </a:r>
            <a:r>
              <a:rPr sz="900">
                <a:solidFill>
                  <a:srgbClr val="FFFFFF"/>
                </a:solidFill>
                <a:latin typeface="Calibri"/>
              </a:rPr>
              <a:t>Kiln fuel (self-use)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Margin: </a:t>
            </a:r>
            <a:r>
              <a:rPr sz="900">
                <a:solidFill>
                  <a:srgbClr val="FFFFFF"/>
                </a:solidFill>
                <a:latin typeface="Calibri"/>
              </a:rPr>
              <a:t>Cost elimination</a:t>
            </a:r>
          </a:p>
          <a:p/>
          <a:p>
            <a:pPr>
              <a:spcBef>
                <a:spcPts val="400"/>
              </a:spcBef>
            </a:pPr>
            <a:r>
              <a:rPr sz="900" b="1">
                <a:solidFill>
                  <a:srgbClr val="FDBA74"/>
                </a:solidFill>
                <a:latin typeface="Calibri"/>
              </a:rPr>
              <a:t>Capacity: </a:t>
            </a:r>
            <a:r>
              <a:rPr sz="900">
                <a:solidFill>
                  <a:srgbClr val="FFFFFF"/>
                </a:solidFill>
                <a:latin typeface="Calibri"/>
              </a:rPr>
              <a:t>Self-sufficient on-site</a:t>
            </a:r>
          </a:p>
          <a:p/>
        </p:txBody>
      </p:sp>
      <p:sp>
        <p:nvSpPr>
          <p:cNvPr id="25" name="Rectangle 24"/>
          <p:cNvSpPr/>
          <p:nvPr/>
        </p:nvSpPr>
        <p:spPr>
          <a:xfrm>
            <a:off x="8302752" y="4251960"/>
            <a:ext cx="3328416" cy="27432"/>
          </a:xfrm>
          <a:prstGeom prst="rect">
            <a:avLst/>
          </a:prstGeom>
          <a:solidFill>
            <a:srgbClr val="40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4325112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Zero firewood replacement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Made from rice husks &amp; biomass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Circular economy model</a:t>
            </a:r>
          </a:p>
          <a:p>
            <a:pPr>
              <a:spcBef>
                <a:spcPts val="500"/>
              </a:spcBef>
            </a:pPr>
            <a:r>
              <a:rPr sz="900">
                <a:solidFill>
                  <a:srgbClr val="CCEECC"/>
                </a:solidFill>
                <a:latin typeface="Calibri"/>
              </a:rPr>
              <a:t>✓  Community supply chain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1052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DBA74"/>
                </a:solidFill>
                <a:latin typeface="Calibri"/>
              </a:rPr>
              <a:t>Annual Revenue: K900M (Ordinary)  +  K1,170M (Face)  =  K2.07 BILLION   ·   Gross Profit: K774M (~$440,000 USD)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INVESTMENT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Capital, Returns &amp; Financial Snapshot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743200" cy="12801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81328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K175M+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Founder's 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76272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Charles Billy Nasala
personal investment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371600"/>
            <a:ext cx="2743200" cy="128016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481328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EUR 175K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Atmosfair Loan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76272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2nd Amendment Apr 2026
5 disbursements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743200" cy="12801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481328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K450M+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938528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Total Capital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176272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Founder equity +
international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371600"/>
            <a:ext cx="2743200" cy="128016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1481328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K2.07B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938528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Annual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176272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At full production
(~$1.2M USD)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4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0779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1B4332"/>
                </a:solidFill>
                <a:latin typeface="Calibri"/>
              </a:rPr>
              <a:t>30–45%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2468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E8690A"/>
                </a:solidFill>
                <a:latin typeface="Calibri"/>
              </a:rPr>
              <a:t>Annual ROI Potential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3621024"/>
            <a:ext cx="252374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Based on full capacity, QS pricing &amp; existing infrastructure. Policy-driven demand = long-term revenue.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83464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7560" y="290779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1B4332"/>
                </a:solidFill>
                <a:latin typeface="Calibri"/>
              </a:rPr>
              <a:t>3–5 yrs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3383280"/>
            <a:ext cx="2468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E8690A"/>
                </a:solidFill>
                <a:latin typeface="Calibri"/>
              </a:rPr>
              <a:t>Payback Period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3621024"/>
            <a:ext cx="252374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Conservative payback on total investment. Expansion financing accelerates this significantly.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83464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90779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1B4332"/>
                </a:solidFill>
                <a:latin typeface="Calibri"/>
              </a:rPr>
              <a:t>$2.5M+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383280"/>
            <a:ext cx="2468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E8690A"/>
                </a:solidFill>
                <a:latin typeface="Calibri"/>
              </a:rPr>
              <a:t>Revenue in 3 Years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621024"/>
            <a:ext cx="252374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With expansion financing, revenue exceeds $2.5M USD within 3 years of scaled operations.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2834640"/>
            <a:ext cx="27432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9720" y="2907792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 i="0">
                <a:solidFill>
                  <a:srgbClr val="1B4332"/>
                </a:solidFill>
                <a:latin typeface="Calibri"/>
              </a:rPr>
              <a:t>K774M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383280"/>
            <a:ext cx="2468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E8690A"/>
                </a:solidFill>
                <a:latin typeface="Calibri"/>
              </a:rPr>
              <a:t>Annual Gross Profit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62288" y="3621024"/>
            <a:ext cx="252374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Annual gross profit at full production. (~$440,000 USD). Grows with biogas kiln addition.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44348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C2B28"/>
                </a:solidFill>
                <a:latin typeface="Calibri"/>
              </a:rPr>
              <a:t>Annual Revenue &amp; Profit Breakdown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274320" y="4709160"/>
          <a:ext cx="1164031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828800"/>
                <a:gridCol w="2286000"/>
                <a:gridCol w="313639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Production Cost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Selling Price (QS)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Annual Revenue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Ordinary VSK Bricks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3,000,000 / year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K195 / brick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K300 / brick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K900,000,000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Face Bricks (Premium)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1,800,000 / year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K335 / brick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K510–K650 / brick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K1,170,000,000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4,800,000 / year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K2,070,000,000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PRICING &amp; MARKET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Cost per m² of Wall — NEVAGS vs Alternatives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298448"/>
            <a:ext cx="11640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A standard half-brick wall (1m²) requires ~59 standard bricks or ~12 cement blocks. This is how NEVAGS compares: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288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1C2B28"/>
                </a:solidFill>
                <a:latin typeface="Calibri"/>
              </a:rPr>
              <a:t>Cement Blocks
(12 blocks × K3,000)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874520"/>
            <a:ext cx="685800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0" y="190195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C2B28"/>
                </a:solidFill>
                <a:latin typeface="Calibri"/>
              </a:rPr>
              <a:t>K36,000/m²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23160"/>
            <a:ext cx="11640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Expensive. Requires extra mortar, rebar &amp; skilled labour. High transport cost to Mulanje.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4612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1C2B28"/>
                </a:solidFill>
                <a:latin typeface="Calibri"/>
              </a:rPr>
              <a:t>NEVAGS VSK Bricks
(59 bricks × K300)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291840"/>
            <a:ext cx="3374136" cy="41148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33192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C2B28"/>
                </a:solidFill>
                <a:latin typeface="Calibri"/>
              </a:rPr>
              <a:t>K17,700/m²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840480"/>
            <a:ext cx="11640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✓ LEGAL  ✓ LOCAL  ✓ AFFORDABLE — 51% cheaper than cement. Policy compliant. Eligible for all govt projects.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1C2B28"/>
                </a:solidFill>
                <a:latin typeface="Calibri"/>
              </a:rPr>
              <a:t>Traditional Firewood Bricks
(NOW ILLEGAL)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709160"/>
            <a:ext cx="1687068" cy="4114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0348" y="473659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C2B28"/>
                </a:solidFill>
                <a:latin typeface="Calibri"/>
              </a:rPr>
              <a:t>K8,850/m²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257800"/>
            <a:ext cx="11640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⚠ BANNED BY MALAWI GOVERNMENT. Using these bricks = illegal. Not eligible for any formal construction project.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263640"/>
            <a:ext cx="11640312" cy="475488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309360"/>
            <a:ext cx="11338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DBA74"/>
                </a:solidFill>
                <a:latin typeface="Calibri"/>
              </a:rPr>
              <a:t>NEVAGS IS 51% CHEAPER THAN CEMENT BLOCKS — The only legal, affordable, locally-produced alternative in Mulanje District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ENVIRONMENTAL &amp; SOCIAL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Built for a Sustainable Malawi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2697480" cy="640080"/>
          </a:xfrm>
          <a:prstGeom prst="rect">
            <a:avLst/>
          </a:prstGeom>
          <a:solidFill>
            <a:srgbClr val="4C9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SDG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19072"/>
            <a:ext cx="2423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Good Health
&amp; Well-Being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2697480" cy="3657600"/>
          </a:xfrm>
          <a:prstGeom prst="rect">
            <a:avLst/>
          </a:prstGeom>
          <a:solidFill>
            <a:srgbClr val="153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121408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Safety compliance ≥95%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PPE for all 51 workers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Reduced air pollution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Community health protection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2697480" cy="640080"/>
          </a:xfrm>
          <a:prstGeom prst="rect">
            <a:avLst/>
          </a:prstGeom>
          <a:solidFill>
            <a:srgbClr val="BF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SDG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19072"/>
            <a:ext cx="2423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Gender
Equality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2057400"/>
            <a:ext cx="2697480" cy="3657600"/>
          </a:xfrm>
          <a:prstGeom prst="rect">
            <a:avLst/>
          </a:prstGeom>
          <a:solidFill>
            <a:srgbClr val="153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21408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15 female employees (29%)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Equal pay policy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Female leadership roles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Target: ≥30% women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17320"/>
            <a:ext cx="2697480" cy="640080"/>
          </a:xfrm>
          <a:prstGeom prst="rect">
            <a:avLst/>
          </a:prstGeom>
          <a:solidFill>
            <a:srgbClr val="3F7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6304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SDG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719072"/>
            <a:ext cx="2423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Climate
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057400"/>
            <a:ext cx="2697480" cy="3657600"/>
          </a:xfrm>
          <a:prstGeom prst="rect">
            <a:avLst/>
          </a:prstGeom>
          <a:solidFill>
            <a:srgbClr val="153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121408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Zero firewood in production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Biomass briquette fuel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Carbon emission reduction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Forest preservation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1417320"/>
            <a:ext cx="2697480" cy="640080"/>
          </a:xfrm>
          <a:prstGeom prst="rect">
            <a:avLst/>
          </a:prstGeom>
          <a:solidFill>
            <a:srgbClr val="56C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46304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SDG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719072"/>
            <a:ext cx="24231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Life
on Land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057400"/>
            <a:ext cx="2697480" cy="3657600"/>
          </a:xfrm>
          <a:prstGeom prst="rect">
            <a:avLst/>
          </a:prstGeom>
          <a:solidFill>
            <a:srgbClr val="153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2121408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Zero deforestation impact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Protects Mulanje Massif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Biodiversity preservation</a:t>
            </a:r>
          </a:p>
          <a:p>
            <a:pPr algn="l">
              <a:spcBef>
                <a:spcPts val="800"/>
              </a:spcBef>
            </a:pPr>
            <a:r>
              <a:rPr sz="1000" b="0" i="0">
                <a:solidFill>
                  <a:srgbClr val="90EE90"/>
                </a:solidFill>
                <a:latin typeface="Calibri"/>
              </a:rPr>
              <a:t>✓  Water catchment protection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40312" cy="9601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ZERO WASTE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080760"/>
            <a:ext cx="1133856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CCEECC"/>
                </a:solidFill>
                <a:latin typeface="Calibri"/>
              </a:rPr>
              <a:t>Production dust &amp; clay → recovered  ·  Agricultural biomass → briquette fuel  ·  Organic waste → Biogas (2nd kiln, 14 months)  ·  Kiln ash → soil amendment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EMPLOYMENT &amp; JOB CREATION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51 Jobs Today. 8,000+ in 3 Years.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743200" cy="132588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81328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Current Employees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76272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15 Female (29%) · 36 Male (71%)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371600"/>
            <a:ext cx="2743200" cy="132588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481328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Internal Jobs (3 yrs)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76272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All departments incl.
Mech. Engineering &amp; Maintenance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74320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481328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938528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Community Moulders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176272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Trained &amp; buying from them;
NEVAGS fires in VSK kiln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371600"/>
            <a:ext cx="2743200" cy="132588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1481328"/>
            <a:ext cx="2468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2,500+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938528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FDBA74"/>
                </a:solidFill>
                <a:latin typeface="Calibri"/>
              </a:rPr>
              <a:t>Biomass Suppliers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176272"/>
            <a:ext cx="2560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CCCCCC"/>
                </a:solidFill>
                <a:latin typeface="Calibri"/>
              </a:rPr>
              <a:t>Rice husks &amp; agri waste
buyers from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C2B28"/>
                </a:solidFill>
                <a:latin typeface="Calibri"/>
              </a:rPr>
              <a:t>The NEVAGS Job Creation Ecosystem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200400"/>
            <a:ext cx="3749039" cy="3127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200400"/>
            <a:ext cx="3749039" cy="54864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273552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Community Brick Moulding Programme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3675887"/>
            <a:ext cx="352044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NEVAGS trains community members in standard VSK-quality brick moulding. They produce green bricks locally — NEVAGS buys directly from them and fires in our kiln. Self-employment at community scale.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200400"/>
            <a:ext cx="3749039" cy="3127248"/>
          </a:xfrm>
          <a:prstGeom prst="rect">
            <a:avLst/>
          </a:prstGeom>
          <a:solidFill>
            <a:srgbClr val="FEF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3200400"/>
            <a:ext cx="3749039" cy="54864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3273552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Biomass &amp; Rice Husk Supply Chain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3675887"/>
            <a:ext cx="352044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We purchase rice husks, maize cobs, and agricultural biomass from community farmers. Farm waste becomes clean energy income — turning zero-value materials into a new rural revenue stream.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3200400"/>
            <a:ext cx="3749039" cy="3127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3200400"/>
            <a:ext cx="3749039" cy="54864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273552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B4332"/>
                </a:solidFill>
                <a:latin typeface="Calibri"/>
              </a:rPr>
              <a:t>Internal Growth — All Departments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675887"/>
            <a:ext cx="352044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Beyond operations, NEVAGS scales across Sales, HR, Admin, Finance, and a dedicated Mechanical Engineering &amp; Maintenance department. 200+ formal, permanent jobs within 3 years.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6400800"/>
            <a:ext cx="11640312" cy="384048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6473952"/>
            <a:ext cx="7772400" cy="2286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6473952"/>
            <a:ext cx="3410712" cy="22860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400800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Male 71% (36)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6400800"/>
            <a:ext cx="3566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FDBA74"/>
                </a:solidFill>
                <a:latin typeface="Calibri"/>
              </a:rPr>
              <a:t>Female 29% (15) — SDG 5 · Target ≥30%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WORKFORCE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KPI-Driven Phased Scaling — Apr to Jul 2026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4031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1737360"/>
                <a:gridCol w="2651760"/>
                <a:gridCol w="359359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Staff on Site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Daily Output Target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Key KPIs</a:t>
                      </a:r>
                    </a:p>
                  </a:txBody>
                  <a:tcPr marL="73152" marR="73152" marT="36576" marB="36576">
                    <a:solidFill>
                      <a:srgbClr val="1B433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Startup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Wk 1–2 (Apr 6–19)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18 staff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Site commissioning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Safety ≥95% · Downtime &lt;10%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Phase 1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Wk 3–4 (Apr–May)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33 staff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≥3,000 bricks/day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Output ≥3,000/day · Cost ≤K195/brick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Phase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Wk 5–8 (May)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39–40 staff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≥5,000 bricks/day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Kiln Util &gt;80% · Orders &gt;50,000/wk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Phase 3 / Full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Wk 9–13 (Jun–Jul)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45 staff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≥7,000 bricks/day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Active Clients ≥5 · Full shift ops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2026–2029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200+ internal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Doubled capacity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C2B28"/>
                          </a:solidFill>
                          <a:latin typeface="Calibri"/>
                        </a:rPr>
                        <a:t>8,000+ ecosystem jobs · Biogas kiln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434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C2B28"/>
                </a:solidFill>
                <a:latin typeface="Calibri"/>
              </a:rPr>
              <a:t>Compensation Philosophy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4754880"/>
            <a:ext cx="3749039" cy="192024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4846320"/>
            <a:ext cx="3520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DBA74"/>
                </a:solidFill>
                <a:latin typeface="Calibri"/>
              </a:rPr>
              <a:t>Senior &amp; Management 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175504"/>
            <a:ext cx="35204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CCDDCC"/>
                </a:solidFill>
                <a:latin typeface="Calibri"/>
              </a:rPr>
              <a:t>Competitive market-rate remuneration — above-market base salaries reflecting expertise and business contribution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4754880"/>
            <a:ext cx="3749039" cy="192024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4846320"/>
            <a:ext cx="3520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DBA74"/>
                </a:solidFill>
                <a:latin typeface="Calibri"/>
              </a:rPr>
              <a:t>General Workers &amp; Supervisors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5175504"/>
            <a:ext cx="35204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CCDDCC"/>
                </a:solidFill>
                <a:latin typeface="Calibri"/>
              </a:rPr>
              <a:t>Above statutory minimum wage — no exceptions. Stable, year-round income with career progression tied to KPI 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4754880"/>
            <a:ext cx="3749039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846320"/>
            <a:ext cx="3520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DBA74"/>
                </a:solidFill>
                <a:latin typeface="Calibri"/>
              </a:rPr>
              <a:t>Community Moulders &amp; Biomass Suppliers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175504"/>
            <a:ext cx="35204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CCDDCC"/>
                </a:solidFill>
                <a:latin typeface="Calibri"/>
              </a:rPr>
              <a:t>Direct purchase payments. Guaranteed offtake agreements create predictable income for community entrepreneurs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PARTNERS &amp;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Backed by Leading Institutions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3749039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3749039" cy="54864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45336"/>
            <a:ext cx="3474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B4332"/>
                </a:solidFill>
                <a:latin typeface="Calibri"/>
              </a:rPr>
              <a:t>GIZ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8424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Deutsche Gesellschaft für
Internationale Zusammenarbeit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4144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1C2B28"/>
                </a:solidFill>
                <a:latin typeface="Calibri"/>
              </a:rPr>
              <a:t>Technical &amp; Financial Partner
German Development Cooperation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417320"/>
            <a:ext cx="3749039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49039" cy="54864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545336"/>
            <a:ext cx="3474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B4332"/>
                </a:solidFill>
                <a:latin typeface="Calibri"/>
              </a:rPr>
              <a:t>Atmosfair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98424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German Climate Protection NGO
Berlin, Germany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4144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1C2B28"/>
                </a:solidFill>
                <a:latin typeface="Calibri"/>
              </a:rPr>
              <a:t>Carbon Finance &amp; Climate Compliance
Loan Provider (EUR 175,000)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749039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417320"/>
            <a:ext cx="3749039" cy="54864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545336"/>
            <a:ext cx="3474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B4332"/>
                </a:solidFill>
                <a:latin typeface="Calibri"/>
              </a:rPr>
              <a:t>CCODE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198424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Centre for Community
Organisation &amp;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244144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1C2B28"/>
                </a:solidFill>
                <a:latin typeface="Calibri"/>
              </a:rPr>
              <a:t>Community Engagement
&amp; Local Development Partner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840480"/>
            <a:ext cx="3749039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840480"/>
            <a:ext cx="3749039" cy="54864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968496"/>
            <a:ext cx="3474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B4332"/>
                </a:solidFill>
                <a:latin typeface="Calibri"/>
              </a:rPr>
              <a:t>TERA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40740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Technical &amp; Environmental
Research Associate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6460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1C2B28"/>
                </a:solidFill>
                <a:latin typeface="Calibri"/>
              </a:rPr>
              <a:t>Environmental Compliance
&amp; Research Partner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3840480"/>
            <a:ext cx="3749039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3840480"/>
            <a:ext cx="3749039" cy="54864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968496"/>
            <a:ext cx="3474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B4332"/>
                </a:solidFill>
                <a:latin typeface="Calibri"/>
              </a:rPr>
              <a:t>MUBAS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40740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Malawi University of Business
&amp; Applied Sciences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86460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1C2B28"/>
                </a:solidFill>
                <a:latin typeface="Calibri"/>
              </a:rPr>
              <a:t>Academic Research
&amp; Skills Development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3840480"/>
            <a:ext cx="3749039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3840480"/>
            <a:ext cx="3749039" cy="54864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968496"/>
            <a:ext cx="3474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1B4332"/>
                </a:solidFill>
                <a:latin typeface="Calibri"/>
              </a:rPr>
              <a:t>CIRA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440740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Construction Industry
Regulatory Authority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486460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1C2B28"/>
                </a:solidFill>
                <a:latin typeface="Calibri"/>
              </a:rPr>
              <a:t>Industry Compliance
&amp; Market Development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400800"/>
            <a:ext cx="11640312" cy="384048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Government  ·  NGOs &amp; Dev Finance  ·  Academic Institutions  ·  Industry Regulators  ·  Community Organisations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Phased Growth Plan — 2026 to 2029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2697480" cy="5486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2423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6420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Apr–May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65960"/>
            <a:ext cx="2697480" cy="4114800"/>
          </a:xfrm>
          <a:prstGeom prst="rect">
            <a:avLst/>
          </a:prstGeom>
          <a:solidFill>
            <a:srgbClr val="153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011680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Foundation &amp;
Commissioning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487168"/>
            <a:ext cx="2468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VSK kiln commissioning complete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18→33 staff on-boarded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Moulding operations begin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≥3,000 bricks/day output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First client engagements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417320"/>
            <a:ext cx="2697480" cy="54864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423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6420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May–Jun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1965960"/>
            <a:ext cx="2697480" cy="4114800"/>
          </a:xfrm>
          <a:prstGeom prst="rect">
            <a:avLst/>
          </a:prstGeom>
          <a:solidFill>
            <a:srgbClr val="153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011680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Scale
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487168"/>
            <a:ext cx="2468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Output scaled to ≥5,000/day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39–40 staff deployed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Kiln utilisation &gt;80%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50,000+ bricks/week orders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Market penetration active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417320"/>
            <a:ext cx="2697480" cy="54864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463040"/>
            <a:ext cx="2423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66420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Jun–Jul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65960"/>
            <a:ext cx="2697480" cy="4114800"/>
          </a:xfrm>
          <a:prstGeom prst="rect">
            <a:avLst/>
          </a:prstGeom>
          <a:solidFill>
            <a:srgbClr val="153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Full-Scale
Operations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87168"/>
            <a:ext cx="2468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45 staff at full capacity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Output ≥7,000 bricks/day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≥5 active bulk clients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Double-shift introduced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Revenue targets met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1417320"/>
            <a:ext cx="269748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463040"/>
            <a:ext cx="2423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1664208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2026–2029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1965960"/>
            <a:ext cx="2697480" cy="4114800"/>
          </a:xfrm>
          <a:prstGeom prst="rect">
            <a:avLst/>
          </a:prstGeom>
          <a:solidFill>
            <a:srgbClr val="153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011680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Expansion &amp;
Innovation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487168"/>
            <a:ext cx="2468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200+ internal staff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8,000+ ecosystem jobs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BIOGAS 2nd kiln (14 months)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Revenue &gt;$2.5M USD</a:t>
            </a:r>
          </a:p>
          <a:p>
            <a:pPr algn="l">
              <a:spcBef>
                <a:spcPts val="700"/>
              </a:spcBef>
            </a:pPr>
            <a:r>
              <a:rPr sz="1000" b="0" i="0">
                <a:solidFill>
                  <a:srgbClr val="CCEECC"/>
                </a:solidFill>
                <a:latin typeface="Calibri"/>
              </a:rPr>
              <a:t>• Southern Africa expansion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172200"/>
            <a:ext cx="11640312" cy="621792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23620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🔥  IN 14 MONTHS: Biogas-Powered 2nd VSK Kiln Shaft — First Biogas Brick Producer in Malawi · Doubles Capacity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A RELATIONSHIP OF MUTUAL BENEFIT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92608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Why Mulanje Needs NEVAGS · Why NEVAGS Needs Mulanje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53312"/>
            <a:ext cx="5486400" cy="534924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WHY MULANJE DISTRICT NEEDS NEVAGS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55648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Policy Compliance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EECC"/>
                </a:solidFill>
                <a:latin typeface="Calibri"/>
              </a:rPr>
              <a:t>NEVAGS is the only VSK producer in the district — the ONLY legal solution to the firewood ban. Every govt &amp; NGO project needs us.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8,000+ Jobs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EECC"/>
                </a:solidFill>
                <a:latin typeface="Calibri"/>
              </a:rPr>
              <a:t>The largest potential job creator in Mulanje history — from factory to community supply chain, all within 3 years.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Forest Protection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EECC"/>
                </a:solidFill>
                <a:latin typeface="Calibri"/>
              </a:rPr>
              <a:t>Every NEVAGS brick protects Mulanje Massif's forests, water catchments, and biodiversity.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Black-Owned Pioneer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EECC"/>
                </a:solidFill>
                <a:latin typeface="Calibri"/>
              </a:rPr>
              <a:t>One of the first black-owned industrial enterprises in Mulanje. Supporting NEVAGS sends a historic signal.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Tax &amp; Local Economy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EECC"/>
                </a:solidFill>
                <a:latin typeface="Calibri"/>
              </a:rPr>
              <a:t>Revenue stays in Mulanje — paying wages, buying local supplies, and contributing to district tax revenue.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353312"/>
            <a:ext cx="5971032" cy="5349240"/>
          </a:xfrm>
          <a:prstGeom prst="rect">
            <a:avLst/>
          </a:prstGeom>
          <a:solidFill>
            <a:srgbClr val="1C2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44475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WHY NEVAGS NEEDS MULANJE DISTRICT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755648"/>
            <a:ext cx="5623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DEC Endorsement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CCCC"/>
                </a:solidFill>
                <a:latin typeface="Calibri"/>
              </a:rPr>
              <a:t>Formal endorsement opens government procurement — millions of bricks in guaranteed long-term demand.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Workforce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CCCC"/>
                </a:solidFill>
                <a:latin typeface="Calibri"/>
              </a:rPr>
              <a:t>Mulanje's community is our talent pool. District cooperation enables the community training programme.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Biomass Supply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CCCC"/>
                </a:solidFill>
                <a:latin typeface="Calibri"/>
              </a:rPr>
              <a:t>Rice husks and farm biomass from Mulanje's farmers are our fuel. We need the agricultural sector as a partner.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Infrastructure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CCCC"/>
                </a:solidFill>
                <a:latin typeface="Calibri"/>
              </a:rPr>
              <a:t>Stable ESCOM power, road access, and land tenure security require district-level facilitation and support.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FDBA74"/>
                </a:solidFill>
                <a:latin typeface="Calibri"/>
              </a:rPr>
              <a:t>Policy Champion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CCCC"/>
                </a:solidFill>
                <a:latin typeface="Calibri"/>
              </a:rPr>
              <a:t>As a pioneering black enterprise, NEVAGS needs the DEC to champion, protect, and amplify our growth.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0">
                <a:solidFill>
                  <a:srgbClr val="E8690A"/>
                </a:solidFill>
                <a:latin typeface="Calibri"/>
              </a:rPr>
              <a:t>PARTNERSHIP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75488"/>
            <a:ext cx="9144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Let's Build Malawi's
Sustainable Future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CCDDCC"/>
                </a:solidFill>
                <a:latin typeface="Calibri"/>
              </a:rPr>
              <a:t>NEVAGS asks the District Executive Committee for three things: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3566160" cy="2194560"/>
          </a:xfrm>
          <a:prstGeom prst="rect">
            <a:avLst/>
          </a:prstGeom>
          <a:solidFill>
            <a:srgbClr val="153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E8690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10312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Recognition &amp; Endorsement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42032"/>
            <a:ext cx="3337560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BCCBB"/>
                </a:solidFill>
                <a:latin typeface="Calibri"/>
              </a:rPr>
              <a:t>Formally recognise NEVAGS as a strategic district partner — opening government procurement, NGO supply contracts, and public sector projects.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2011680"/>
            <a:ext cx="3566160" cy="2194560"/>
          </a:xfrm>
          <a:prstGeom prst="rect">
            <a:avLst/>
          </a:prstGeom>
          <a:solidFill>
            <a:srgbClr val="153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E8690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1768" y="210312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Community Programme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337560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BCCBB"/>
                </a:solidFill>
                <a:latin typeface="Calibri"/>
              </a:rPr>
              <a:t>Facilitate community outreach, training endorsement, and biomass supply chain development through district channels.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2011680"/>
            <a:ext cx="3566160" cy="2194560"/>
          </a:xfrm>
          <a:prstGeom prst="rect">
            <a:avLst/>
          </a:prstGeom>
          <a:solidFill>
            <a:srgbClr val="153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0312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 i="0">
                <a:solidFill>
                  <a:srgbClr val="E8690A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2248" y="210312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Infrastructure Facilitation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42032"/>
            <a:ext cx="3337560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BBCCBB"/>
                </a:solidFill>
                <a:latin typeface="Calibri"/>
              </a:rPr>
              <a:t>Support stable power supply, road infrastructure, and land tenure security — foundational needs for NEVAGS to scale.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343400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E8690A"/>
                </a:solidFill>
                <a:latin typeface="Calibri"/>
              </a:rPr>
              <a:t>CONTACTS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617720"/>
            <a:ext cx="3566160" cy="2103120"/>
          </a:xfrm>
          <a:prstGeom prst="rect">
            <a:avLst/>
          </a:prstGeom>
          <a:solidFill>
            <a:srgbClr val="1C3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681728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690A"/>
                </a:solidFill>
                <a:latin typeface="Calibri"/>
              </a:rPr>
              <a:t>Managing Director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3337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Charles Billy Nasala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76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 i="0">
                <a:solidFill>
                  <a:srgbClr val="BBDDBB"/>
                </a:solidFill>
                <a:latin typeface="Calibri"/>
              </a:rPr>
              <a:t>+265 888 34 75 75  |  +265 99 751 0160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86983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 i="0">
                <a:solidFill>
                  <a:srgbClr val="BBDDBB"/>
                </a:solidFill>
                <a:latin typeface="Calibri"/>
              </a:rPr>
              <a:t>nasalacharles.b@gmail.com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4617720"/>
            <a:ext cx="3566160" cy="2103120"/>
          </a:xfrm>
          <a:prstGeom prst="rect">
            <a:avLst/>
          </a:prstGeom>
          <a:solidFill>
            <a:srgbClr val="1C3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681728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690A"/>
                </a:solidFill>
                <a:latin typeface="Calibri"/>
              </a:rPr>
              <a:t>Founding Engineer &amp; BD Manager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92040"/>
            <a:ext cx="3337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Chancy Tausi Tsonga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276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 i="0">
                <a:solidFill>
                  <a:srgbClr val="BBDDBB"/>
                </a:solidFill>
                <a:latin typeface="Calibri"/>
              </a:rPr>
              <a:t>+265 984 000 366  |  WA: +27 764 998 4601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586983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 i="0">
                <a:solidFill>
                  <a:srgbClr val="BBDDBB"/>
                </a:solidFill>
                <a:latin typeface="Calibri"/>
              </a:rPr>
              <a:t>chancy.tsonga@yahoo.com  |  chancytsonga.com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4617720"/>
            <a:ext cx="3566160" cy="2103120"/>
          </a:xfrm>
          <a:prstGeom prst="rect">
            <a:avLst/>
          </a:prstGeom>
          <a:solidFill>
            <a:srgbClr val="1C3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4681728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690A"/>
                </a:solidFill>
                <a:latin typeface="Calibri"/>
              </a:rPr>
              <a:t>Careers &amp; Location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892040"/>
            <a:ext cx="3337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Join NEVAGS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5276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 i="0">
                <a:solidFill>
                  <a:srgbClr val="BBDDBB"/>
                </a:solidFill>
                <a:latin typeface="Calibri"/>
              </a:rPr>
              <a:t>careers.nevags@gmail.com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586983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 i="0">
                <a:solidFill>
                  <a:srgbClr val="BBDDBB"/>
                </a:solidFill>
                <a:latin typeface="Calibri"/>
              </a:rPr>
              <a:t>Musewu, Mulanje District · P.O. Box 90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6510528"/>
            <a:ext cx="11045952" cy="320040"/>
          </a:xfrm>
          <a:prstGeom prst="rect">
            <a:avLst/>
          </a:prstGeom>
          <a:solidFill>
            <a:srgbClr val="E869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547104"/>
            <a:ext cx="10789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NEVAGS ECO BRICK &amp; CONSTRUCTION  ·  Reg. 46289  ·  Musewu, Mulanje, Malawi  ·  Building Tomorrow Sustainably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